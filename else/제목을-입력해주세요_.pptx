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Gowun Batang Regular"/>
      <p:regular r:id="rId19"/>
    </p:embeddedFont>
    <p:embeddedFont>
      <p:font typeface="Pretendard Light"/>
      <p:regular r:id="rId20"/>
    </p:embeddedFont>
    <p:embeddedFont>
      <p:font typeface="Gowun Batang Bold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.fntdata" Type="http://schemas.openxmlformats.org/officeDocument/2006/relationships/font"/><Relationship Id="rId2" Target="presProps.xml" Type="http://schemas.openxmlformats.org/officeDocument/2006/relationships/presProps"/><Relationship Id="rId20" Target="fonts/font2.fntdata" Type="http://schemas.openxmlformats.org/officeDocument/2006/relationships/font"/><Relationship Id="rId21" Target="fonts/font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12.pn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1.png" Type="http://schemas.openxmlformats.org/officeDocument/2006/relationships/image"/><Relationship Id="rId6" Target="../media/image14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38.pn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1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png" Type="http://schemas.openxmlformats.org/officeDocument/2006/relationships/image"/><Relationship Id="rId12" Target="../media/image46.png" Type="http://schemas.openxmlformats.org/officeDocument/2006/relationships/image"/><Relationship Id="rId2" Target="../media/image24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12.png" Type="http://schemas.openxmlformats.org/officeDocument/2006/relationships/image"/><Relationship Id="rId7" Target="../media/image38.png" Type="http://schemas.openxmlformats.org/officeDocument/2006/relationships/image"/><Relationship Id="rId8" Target="../media/image42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png" Type="http://schemas.openxmlformats.org/officeDocument/2006/relationships/image"/><Relationship Id="rId12" Target="../media/image54.png" Type="http://schemas.openxmlformats.org/officeDocument/2006/relationships/image"/><Relationship Id="rId2" Target="../media/image24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0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png" Type="http://schemas.openxmlformats.org/officeDocument/2006/relationships/image"/><Relationship Id="rId12" Target="../media/image12.png" Type="http://schemas.openxmlformats.org/officeDocument/2006/relationships/image"/><Relationship Id="rId13" Target="../media/image62.pn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1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pn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1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12.png" Type="http://schemas.openxmlformats.org/officeDocument/2006/relationships/image"/><Relationship Id="rId8" Target="../media/image57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png" Type="http://schemas.openxmlformats.org/officeDocument/2006/relationships/image"/><Relationship Id="rId11" Target="../media/image68.pn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1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Relationship Id="rId8" Target="../media/image12.pn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png" Type="http://schemas.openxmlformats.org/officeDocument/2006/relationships/image"/><Relationship Id="rId11" Target="../media/image71.pn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1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Relationship Id="rId8" Target="../media/image12.png" Type="http://schemas.openxmlformats.org/officeDocument/2006/relationships/image"/><Relationship Id="rId9" Target="../media/image6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pn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1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12.png" Type="http://schemas.openxmlformats.org/officeDocument/2006/relationships/image"/><Relationship Id="rId8" Target="../media/image55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11" Target="../media/image81.png" Type="http://schemas.openxmlformats.org/officeDocument/2006/relationships/image"/><Relationship Id="rId12" Target="../media/image82.pn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1.png" Type="http://schemas.openxmlformats.org/officeDocument/2006/relationships/image"/><Relationship Id="rId5" Target="../media/image75.png" Type="http://schemas.openxmlformats.org/officeDocument/2006/relationships/image"/><Relationship Id="rId6" Target="../media/image76.png" Type="http://schemas.openxmlformats.org/officeDocument/2006/relationships/image"/><Relationship Id="rId7" Target="../media/image77.png" Type="http://schemas.openxmlformats.org/officeDocument/2006/relationships/image"/><Relationship Id="rId8" Target="../media/image78.pn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8.png" Type="http://schemas.openxmlformats.org/officeDocument/2006/relationships/image"/><Relationship Id="rId11" Target="../media/image89.png" Type="http://schemas.openxmlformats.org/officeDocument/2006/relationships/image"/><Relationship Id="rId12" Target="../media/image90.png" Type="http://schemas.openxmlformats.org/officeDocument/2006/relationships/image"/><Relationship Id="rId13" Target="../media/image91.png" Type="http://schemas.openxmlformats.org/officeDocument/2006/relationships/image"/><Relationship Id="rId14" Target="../media/image92.png" Type="http://schemas.openxmlformats.org/officeDocument/2006/relationships/image"/><Relationship Id="rId15" Target="../media/image93.png" Type="http://schemas.openxmlformats.org/officeDocument/2006/relationships/image"/><Relationship Id="rId2" Target="../media/image13.png" Type="http://schemas.openxmlformats.org/officeDocument/2006/relationships/image"/><Relationship Id="rId3" Target="../media/image83.png" Type="http://schemas.openxmlformats.org/officeDocument/2006/relationships/image"/><Relationship Id="rId4" Target="../media/image2.png" Type="http://schemas.openxmlformats.org/officeDocument/2006/relationships/image"/><Relationship Id="rId5" Target="../media/image15.png" Type="http://schemas.openxmlformats.org/officeDocument/2006/relationships/image"/><Relationship Id="rId6" Target="../media/image84.png" Type="http://schemas.openxmlformats.org/officeDocument/2006/relationships/image"/><Relationship Id="rId7" Target="../media/image85.png" Type="http://schemas.openxmlformats.org/officeDocument/2006/relationships/image"/><Relationship Id="rId8" Target="../media/image86.png" Type="http://schemas.openxmlformats.org/officeDocument/2006/relationships/image"/><Relationship Id="rId9" Target="../media/image8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0">
            <a:off x="0" y="-25400"/>
            <a:ext cx="18288000" cy="10312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 rot="-10800000">
            <a:off x="-139700" y="-114300"/>
            <a:ext cx="9956800" cy="2006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125200" y="9067800"/>
            <a:ext cx="9334500" cy="128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480000">
            <a:off x="-990600" y="9372600"/>
            <a:ext cx="4470400" cy="2501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020000">
            <a:off x="14312900" y="2159000"/>
            <a:ext cx="2311400" cy="224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4860000">
            <a:off x="16929100" y="6769100"/>
            <a:ext cx="1587500" cy="1803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47700" y="1104900"/>
            <a:ext cx="1701800" cy="1447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372100" y="2692400"/>
            <a:ext cx="7531100" cy="774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7940"/>
              </a:lnSpc>
            </a:pPr>
            <a:r>
              <a:rPr lang="en-US" sz="4400" b="false" i="false" u="none" strike="noStrike" spc="-300">
                <a:solidFill>
                  <a:srgbClr val="655340"/>
                </a:solidFill>
                <a:latin typeface="Gowun Batang Regular"/>
              </a:rPr>
              <a:t>AI</a:t>
            </a:r>
            <a:r>
              <a:rPr lang="ko-KR" sz="4400" b="false" i="false" u="none" strike="noStrike" spc="-300">
                <a:solidFill>
                  <a:srgbClr val="655340"/>
                </a:solidFill>
                <a:ea typeface="Gowun Batang Regular"/>
              </a:rPr>
              <a:t>와</a:t>
            </a:r>
            <a:r>
              <a:rPr lang="en-US" sz="44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4400" b="false" i="false" u="none" strike="noStrike" spc="-300">
                <a:solidFill>
                  <a:srgbClr val="655340"/>
                </a:solidFill>
                <a:ea typeface="Gowun Batang Regular"/>
              </a:rPr>
              <a:t>함께</a:t>
            </a:r>
            <a:r>
              <a:rPr lang="en-US" sz="44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4400" b="false" i="false" u="none" strike="noStrike" spc="-300">
                <a:solidFill>
                  <a:srgbClr val="655340"/>
                </a:solidFill>
                <a:ea typeface="Gowun Batang Regular"/>
              </a:rPr>
              <a:t>하는</a:t>
            </a:r>
            <a:r>
              <a:rPr lang="en-US" sz="44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4400" b="false" i="false" u="none" strike="noStrike" spc="-300">
                <a:solidFill>
                  <a:srgbClr val="655340"/>
                </a:solidFill>
                <a:ea typeface="Gowun Batang Regular"/>
              </a:rPr>
              <a:t>커플</a:t>
            </a:r>
            <a:r>
              <a:rPr lang="en-US" sz="44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4400" b="false" i="false" u="none" strike="noStrike" spc="-300">
                <a:solidFill>
                  <a:srgbClr val="655340"/>
                </a:solidFill>
                <a:ea typeface="Gowun Batang Regular"/>
              </a:rPr>
              <a:t>대화</a:t>
            </a:r>
            <a:r>
              <a:rPr lang="en-US" sz="44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4400" b="false" i="false" u="none" strike="noStrike" spc="-300">
                <a:solidFill>
                  <a:srgbClr val="655340"/>
                </a:solidFill>
                <a:ea typeface="Gowun Batang Regular"/>
              </a:rPr>
              <a:t>솔루션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9">
            <a:alphaModFix amt="65000"/>
          </a:blip>
          <a:stretch>
            <a:fillRect/>
          </a:stretch>
        </p:blipFill>
        <p:spPr>
          <a:xfrm rot="0">
            <a:off x="-1968500" y="3683000"/>
            <a:ext cx="3263900" cy="3314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360400" y="-596900"/>
            <a:ext cx="6172200" cy="2032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>
            <a:alphaModFix amt="45000"/>
          </a:blip>
          <a:stretch>
            <a:fillRect/>
          </a:stretch>
        </p:blipFill>
        <p:spPr>
          <a:xfrm rot="0">
            <a:off x="3810000" y="7137400"/>
            <a:ext cx="10680700" cy="1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403600" y="3492500"/>
            <a:ext cx="11264900" cy="3657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080000">
            <a:off x="1485900" y="5435600"/>
            <a:ext cx="2235200" cy="2349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0">
            <a:off x="0" y="-38100"/>
            <a:ext cx="18288000" cy="10325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480000">
            <a:off x="-901700" y="8864600"/>
            <a:ext cx="5054600" cy="2832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 rot="0">
            <a:off x="16522700" y="6464300"/>
            <a:ext cx="3263900" cy="3314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 rot="-10800000">
            <a:off x="-139700" y="-114300"/>
            <a:ext cx="9956800" cy="2006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93500" y="8661400"/>
            <a:ext cx="7988300" cy="1790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764000" y="4508500"/>
            <a:ext cx="1917700" cy="2184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578100" y="914400"/>
            <a:ext cx="1803400" cy="1524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60400" y="-596900"/>
            <a:ext cx="6172200" cy="2032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044700" y="3429000"/>
            <a:ext cx="14185900" cy="58293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717800" y="3594100"/>
            <a:ext cx="368300" cy="368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768600" y="3251200"/>
            <a:ext cx="279400" cy="4064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556000" y="3594100"/>
            <a:ext cx="368300" cy="368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606800" y="3251200"/>
            <a:ext cx="279400" cy="4064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381500" y="3594100"/>
            <a:ext cx="368300" cy="368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432300" y="3251200"/>
            <a:ext cx="279400" cy="4064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219700" y="3594100"/>
            <a:ext cx="368300" cy="368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270500" y="3251200"/>
            <a:ext cx="279400" cy="4064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045200" y="3594100"/>
            <a:ext cx="368300" cy="368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096000" y="3251200"/>
            <a:ext cx="279400" cy="4064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883400" y="3594100"/>
            <a:ext cx="368300" cy="368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934200" y="3251200"/>
            <a:ext cx="279400" cy="4064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708900" y="3594100"/>
            <a:ext cx="368300" cy="3683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759700" y="3251200"/>
            <a:ext cx="279400" cy="4064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4" id="3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547100" y="3594100"/>
            <a:ext cx="368300" cy="368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585200" y="3251200"/>
            <a:ext cx="279400" cy="4064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372600" y="3594100"/>
            <a:ext cx="368300" cy="3683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423400" y="3251200"/>
            <a:ext cx="279400" cy="406400"/>
          </a:xfrm>
          <a:prstGeom prst="rect">
            <a:avLst/>
          </a:prstGeom>
        </p:spPr>
      </p:pic>
      <p:grpSp>
        <p:nvGrpSpPr>
          <p:cNvPr name="Group 39" id="3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0" id="4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210800" y="3594100"/>
            <a:ext cx="368300" cy="3683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248900" y="3251200"/>
            <a:ext cx="279400" cy="406400"/>
          </a:xfrm>
          <a:prstGeom prst="rect">
            <a:avLst/>
          </a:prstGeom>
        </p:spPr>
      </p:pic>
      <p:grpSp>
        <p:nvGrpSpPr>
          <p:cNvPr name="Group 42" id="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3" id="4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036300" y="3594100"/>
            <a:ext cx="368300" cy="3683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087100" y="3251200"/>
            <a:ext cx="279400" cy="406400"/>
          </a:xfrm>
          <a:prstGeom prst="rect">
            <a:avLst/>
          </a:prstGeom>
        </p:spPr>
      </p:pic>
      <p:grpSp>
        <p:nvGrpSpPr>
          <p:cNvPr name="Group 45" id="4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6" id="4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874500" y="3594100"/>
            <a:ext cx="368300" cy="3683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912600" y="3251200"/>
            <a:ext cx="279400" cy="4064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700000" y="3594100"/>
            <a:ext cx="368300" cy="3683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750800" y="3251200"/>
            <a:ext cx="279400" cy="406400"/>
          </a:xfrm>
          <a:prstGeom prst="rect">
            <a:avLst/>
          </a:prstGeom>
        </p:spPr>
      </p:pic>
      <p:grpSp>
        <p:nvGrpSpPr>
          <p:cNvPr name="Group 51" id="5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2" id="5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525500" y="3594100"/>
            <a:ext cx="368300" cy="3683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576300" y="3251200"/>
            <a:ext cx="279400" cy="40640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363700" y="3594100"/>
            <a:ext cx="368300" cy="3683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414500" y="3251200"/>
            <a:ext cx="279400" cy="4064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189200" y="3594100"/>
            <a:ext cx="368300" cy="3683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240000" y="3251200"/>
            <a:ext cx="279400" cy="4064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13">
            <a:alphaModFix amt="45000"/>
          </a:blip>
          <a:stretch>
            <a:fillRect/>
          </a:stretch>
        </p:blipFill>
        <p:spPr>
          <a:xfrm rot="-5400000">
            <a:off x="6794500" y="6578600"/>
            <a:ext cx="4457700" cy="127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1080000">
            <a:off x="13677900" y="469900"/>
            <a:ext cx="2235200" cy="2336800"/>
          </a:xfrm>
          <a:prstGeom prst="rect">
            <a:avLst/>
          </a:prstGeom>
        </p:spPr>
      </p:pic>
      <p:sp>
        <p:nvSpPr>
          <p:cNvPr name="TextBox 62" id="62"/>
          <p:cNvSpPr txBox="true"/>
          <p:nvPr/>
        </p:nvSpPr>
        <p:spPr>
          <a:xfrm rot="0">
            <a:off x="5118100" y="812800"/>
            <a:ext cx="8051800" cy="2222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en-US" sz="12500" b="false" i="false" u="none" strike="noStrike" spc="-800">
                <a:solidFill>
                  <a:srgbClr val="655340"/>
                </a:solidFill>
                <a:latin typeface="Gowun Batang Regular"/>
              </a:rPr>
              <a:t>Contents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635500" y="4622800"/>
            <a:ext cx="41783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7940"/>
              </a:lnSpc>
            </a:pPr>
            <a:r>
              <a:rPr lang="ko-KR" sz="2700" b="false" i="false" u="none" strike="noStrike" spc="-200">
                <a:solidFill>
                  <a:srgbClr val="655340"/>
                </a:solidFill>
                <a:ea typeface="Gowun Batang Regular"/>
              </a:rPr>
              <a:t>프로젝트</a:t>
            </a:r>
            <a:r>
              <a:rPr lang="en-US" sz="27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700" b="false" i="false" u="none" strike="noStrike" spc="-200">
                <a:solidFill>
                  <a:srgbClr val="655340"/>
                </a:solidFill>
                <a:ea typeface="Gowun Batang Regular"/>
              </a:rPr>
              <a:t>개요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857500" y="4660900"/>
            <a:ext cx="17272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7940"/>
              </a:lnSpc>
            </a:pPr>
            <a:r>
              <a:rPr lang="en-US" sz="2100" b="false" i="false" u="none" strike="noStrike">
                <a:solidFill>
                  <a:srgbClr val="B99F83"/>
                </a:solidFill>
                <a:latin typeface="Gowun Batang Regular"/>
              </a:rPr>
              <a:t>Chapter.01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480800" y="4559300"/>
            <a:ext cx="41783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7940"/>
              </a:lnSpc>
            </a:pPr>
            <a:r>
              <a:rPr lang="ko-KR" sz="2700" b="false" i="false" u="none" strike="noStrike" spc="-200">
                <a:solidFill>
                  <a:srgbClr val="655340"/>
                </a:solidFill>
                <a:ea typeface="Gowun Batang Regular"/>
              </a:rPr>
              <a:t>프로젝트</a:t>
            </a:r>
            <a:r>
              <a:rPr lang="en-US" sz="27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700" b="false" i="false" u="none" strike="noStrike" spc="-200">
                <a:solidFill>
                  <a:srgbClr val="655340"/>
                </a:solidFill>
                <a:ea typeface="Gowun Batang Regular"/>
              </a:rPr>
              <a:t>구조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702800" y="4597400"/>
            <a:ext cx="17272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7940"/>
              </a:lnSpc>
            </a:pPr>
            <a:r>
              <a:rPr lang="en-US" sz="2100" b="false" i="false" u="none" strike="noStrike">
                <a:solidFill>
                  <a:srgbClr val="B99F83"/>
                </a:solidFill>
                <a:latin typeface="Gowun Batang Regular"/>
              </a:rPr>
              <a:t>Chapter.02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635500" y="5092700"/>
            <a:ext cx="3873500" cy="850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1.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기획의도</a:t>
            </a:r>
          </a:p>
          <a:p>
            <a:pPr algn="l" lvl="0">
              <a:lnSpc>
                <a:spcPct val="996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2.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시장</a:t>
            </a: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/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성장성</a:t>
            </a: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 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분석</a:t>
            </a:r>
          </a:p>
          <a:p>
            <a:pPr algn="l" lvl="0">
              <a:lnSpc>
                <a:spcPct val="996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3.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팀</a:t>
            </a: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소개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480800" y="5054600"/>
            <a:ext cx="3873500" cy="685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1.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인프라</a:t>
            </a: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구조</a:t>
            </a:r>
          </a:p>
          <a:p>
            <a:pPr algn="l" lvl="0">
              <a:lnSpc>
                <a:spcPct val="136119"/>
              </a:lnSpc>
            </a:pP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2.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사용한</a:t>
            </a: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기술</a:t>
            </a: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목록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635500" y="6197600"/>
            <a:ext cx="41783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7940"/>
              </a:lnSpc>
            </a:pPr>
            <a:r>
              <a:rPr lang="ko-KR" sz="2700" b="false" i="false" u="none" strike="noStrike" spc="-200">
                <a:solidFill>
                  <a:srgbClr val="655340"/>
                </a:solidFill>
                <a:ea typeface="Gowun Batang Regular"/>
              </a:rPr>
              <a:t>프로젝트</a:t>
            </a:r>
            <a:r>
              <a:rPr lang="en-US" sz="27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700" b="false" i="false" u="none" strike="noStrike" spc="-200">
                <a:solidFill>
                  <a:srgbClr val="655340"/>
                </a:solidFill>
                <a:ea typeface="Gowun Batang Regular"/>
              </a:rPr>
              <a:t>흐름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857500" y="6248400"/>
            <a:ext cx="17272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7940"/>
              </a:lnSpc>
            </a:pPr>
            <a:r>
              <a:rPr lang="en-US" sz="2100" b="false" i="false" u="none" strike="noStrike">
                <a:solidFill>
                  <a:srgbClr val="B99F83"/>
                </a:solidFill>
                <a:latin typeface="Gowun Batang Regular"/>
              </a:rPr>
              <a:t>Chapter.03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480800" y="6134100"/>
            <a:ext cx="41783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7940"/>
              </a:lnSpc>
            </a:pPr>
            <a:r>
              <a:rPr lang="ko-KR" sz="2700" b="false" i="false" u="none" strike="noStrike" spc="-200">
                <a:solidFill>
                  <a:srgbClr val="655340"/>
                </a:solidFill>
                <a:ea typeface="Gowun Batang Regular"/>
              </a:rPr>
              <a:t>프로젝트</a:t>
            </a:r>
            <a:r>
              <a:rPr lang="en-US" sz="27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700" b="false" i="false" u="none" strike="noStrike" spc="-200">
                <a:solidFill>
                  <a:srgbClr val="655340"/>
                </a:solidFill>
                <a:ea typeface="Gowun Batang Regular"/>
              </a:rPr>
              <a:t>디테일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702800" y="6184900"/>
            <a:ext cx="17272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7940"/>
              </a:lnSpc>
            </a:pPr>
            <a:r>
              <a:rPr lang="en-US" sz="2100" b="false" i="false" u="none" strike="noStrike">
                <a:solidFill>
                  <a:srgbClr val="B99F83"/>
                </a:solidFill>
                <a:latin typeface="Gowun Batang Regular"/>
              </a:rPr>
              <a:t>Chapter.04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4635500" y="6756400"/>
            <a:ext cx="3873500" cy="622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2880"/>
              </a:lnSpc>
            </a:pP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 ai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기반</a:t>
            </a: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채팅</a:t>
            </a: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상담</a:t>
            </a: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프로세스</a:t>
            </a:r>
          </a:p>
          <a:p>
            <a:pPr algn="l" lvl="0">
              <a:lnSpc>
                <a:spcPct val="112880"/>
              </a:lnSpc>
            </a:pPr>
            <a:r>
              <a:rPr lang="en-US" sz="1800" b="false" i="false" u="none" strike="noStrike">
                <a:solidFill>
                  <a:srgbClr val="655340">
                    <a:alpha val="50196"/>
                  </a:srgbClr>
                </a:solidFill>
                <a:latin typeface="Pretendard Light"/>
              </a:rPr>
              <a:t/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480800" y="6692900"/>
            <a:ext cx="3873500" cy="685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1.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회원</a:t>
            </a: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관리</a:t>
            </a: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         2.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채팅방</a:t>
            </a: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구현</a:t>
            </a:r>
          </a:p>
          <a:p>
            <a:pPr algn="l" lvl="0">
              <a:lnSpc>
                <a:spcPct val="136119"/>
              </a:lnSpc>
            </a:pP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3.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감정분석</a:t>
            </a: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         4.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리포트</a:t>
            </a: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생성</a:t>
            </a: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및</a:t>
            </a:r>
            <a:r>
              <a:rPr lang="en-US" sz="1800" b="false" i="false" u="none" strike="noStrike" spc="-200">
                <a:solidFill>
                  <a:srgbClr val="655340">
                    <a:alpha val="50196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50196"/>
                  </a:srgbClr>
                </a:solidFill>
                <a:ea typeface="Pretendard Light"/>
              </a:rPr>
              <a:t>조회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635500" y="7645400"/>
            <a:ext cx="41783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7940"/>
              </a:lnSpc>
            </a:pPr>
            <a:r>
              <a:rPr lang="ko-KR" sz="2700" b="false" i="false" u="none" strike="noStrike" spc="-200">
                <a:solidFill>
                  <a:srgbClr val="655340"/>
                </a:solidFill>
                <a:ea typeface="Gowun Batang Regular"/>
              </a:rPr>
              <a:t>개선</a:t>
            </a:r>
            <a:r>
              <a:rPr lang="en-US" sz="27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700" b="false" i="false" u="none" strike="noStrike" spc="-200">
                <a:solidFill>
                  <a:srgbClr val="655340"/>
                </a:solidFill>
                <a:ea typeface="Gowun Batang Regular"/>
              </a:rPr>
              <a:t>방향성</a:t>
            </a:r>
            <a:r>
              <a:rPr lang="en-US" sz="27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700" b="false" i="false" u="none" strike="noStrike" spc="-200">
                <a:solidFill>
                  <a:srgbClr val="655340"/>
                </a:solidFill>
                <a:ea typeface="Gowun Batang Regular"/>
              </a:rPr>
              <a:t>및</a:t>
            </a:r>
            <a:r>
              <a:rPr lang="en-US" sz="27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700" b="false" i="false" u="none" strike="noStrike" spc="-200">
                <a:solidFill>
                  <a:srgbClr val="655340"/>
                </a:solidFill>
                <a:ea typeface="Gowun Batang Regular"/>
              </a:rPr>
              <a:t>서비스</a:t>
            </a:r>
            <a:r>
              <a:rPr lang="en-US" sz="27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700" b="false" i="false" u="none" strike="noStrike" spc="-200">
                <a:solidFill>
                  <a:srgbClr val="655340"/>
                </a:solidFill>
                <a:ea typeface="Gowun Batang Regular"/>
              </a:rPr>
              <a:t>시연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857500" y="7696200"/>
            <a:ext cx="17272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7940"/>
              </a:lnSpc>
            </a:pPr>
            <a:r>
              <a:rPr lang="en-US" sz="2100" b="false" i="false" u="none" strike="noStrike">
                <a:solidFill>
                  <a:srgbClr val="B99F83"/>
                </a:solidFill>
                <a:latin typeface="Gowun Batang Regular"/>
              </a:rPr>
              <a:t>Chapter.05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1480800" y="7581900"/>
            <a:ext cx="41783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7940"/>
              </a:lnSpc>
            </a:pPr>
            <a:r>
              <a:rPr lang="en-US" sz="2700" b="false" i="false" u="none" strike="noStrike" spc="-200">
                <a:solidFill>
                  <a:srgbClr val="655340"/>
                </a:solidFill>
                <a:latin typeface="Gowun Batang Regular"/>
              </a:rPr>
              <a:t>Q &amp; A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702800" y="7632700"/>
            <a:ext cx="17272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7940"/>
              </a:lnSpc>
            </a:pPr>
            <a:r>
              <a:rPr lang="en-US" sz="2100" b="false" i="false" u="none" strike="noStrike">
                <a:solidFill>
                  <a:srgbClr val="B99F83"/>
                </a:solidFill>
                <a:latin typeface="Gowun Batang Regular"/>
              </a:rPr>
              <a:t>Chapter.06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23900" y="647700"/>
            <a:ext cx="16840200" cy="89916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98600" y="812800"/>
            <a:ext cx="368300" cy="368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49400" y="469900"/>
            <a:ext cx="266700" cy="4064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24100" y="812800"/>
            <a:ext cx="368300" cy="368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74900" y="469900"/>
            <a:ext cx="266700" cy="4064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162300" y="812800"/>
            <a:ext cx="368300" cy="368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213100" y="469900"/>
            <a:ext cx="266700" cy="4064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987800" y="812800"/>
            <a:ext cx="368300" cy="368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038600" y="469900"/>
            <a:ext cx="266700" cy="4064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13300" y="812800"/>
            <a:ext cx="368300" cy="368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864100" y="469900"/>
            <a:ext cx="266700" cy="4064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38800" y="812800"/>
            <a:ext cx="368300" cy="368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689600" y="469900"/>
            <a:ext cx="266700" cy="4064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477000" y="812800"/>
            <a:ext cx="368300" cy="368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27800" y="469900"/>
            <a:ext cx="266700" cy="4064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02500" y="812800"/>
            <a:ext cx="368300" cy="3683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353300" y="469900"/>
            <a:ext cx="266700" cy="4064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28000" y="812800"/>
            <a:ext cx="368300" cy="368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178800" y="469900"/>
            <a:ext cx="266700" cy="406400"/>
          </a:xfrm>
          <a:prstGeom prst="rect">
            <a:avLst/>
          </a:prstGeom>
        </p:spPr>
      </p:pic>
      <p:grpSp>
        <p:nvGrpSpPr>
          <p:cNvPr name="Group 31" id="3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953500" y="812800"/>
            <a:ext cx="368300" cy="3683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004300" y="469900"/>
            <a:ext cx="266700" cy="4064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791700" y="812800"/>
            <a:ext cx="368300" cy="3683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842500" y="469900"/>
            <a:ext cx="266700" cy="4064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17200" y="812800"/>
            <a:ext cx="368300" cy="3683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668000" y="469900"/>
            <a:ext cx="266700" cy="406400"/>
          </a:xfrm>
          <a:prstGeom prst="rect">
            <a:avLst/>
          </a:prstGeom>
        </p:spPr>
      </p:pic>
      <p:grpSp>
        <p:nvGrpSpPr>
          <p:cNvPr name="Group 40" id="4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1" id="4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42700" y="812800"/>
            <a:ext cx="368300" cy="3683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93500" y="469900"/>
            <a:ext cx="266700" cy="406400"/>
          </a:xfrm>
          <a:prstGeom prst="rect">
            <a:avLst/>
          </a:prstGeom>
        </p:spPr>
      </p:pic>
      <p:grpSp>
        <p:nvGrpSpPr>
          <p:cNvPr name="Group 43" id="4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4" id="4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268200" y="812800"/>
            <a:ext cx="368300" cy="3683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0" y="469900"/>
            <a:ext cx="266700" cy="406400"/>
          </a:xfrm>
          <a:prstGeom prst="rect">
            <a:avLst/>
          </a:prstGeom>
        </p:spPr>
      </p:pic>
      <p:grpSp>
        <p:nvGrpSpPr>
          <p:cNvPr name="Group 46" id="4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7" id="4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106400" y="812800"/>
            <a:ext cx="368300" cy="3683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157200" y="469900"/>
            <a:ext cx="266700" cy="406400"/>
          </a:xfrm>
          <a:prstGeom prst="rect">
            <a:avLst/>
          </a:prstGeom>
        </p:spPr>
      </p:pic>
      <p:grpSp>
        <p:nvGrpSpPr>
          <p:cNvPr name="Group 49" id="4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0" id="5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31900" y="812800"/>
            <a:ext cx="368300" cy="3683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982700" y="469900"/>
            <a:ext cx="266700" cy="406400"/>
          </a:xfrm>
          <a:prstGeom prst="rect">
            <a:avLst/>
          </a:prstGeom>
        </p:spPr>
      </p:pic>
      <p:grpSp>
        <p:nvGrpSpPr>
          <p:cNvPr name="Group 52" id="5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757400" y="812800"/>
            <a:ext cx="368300" cy="3683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808200" y="469900"/>
            <a:ext cx="266700" cy="406400"/>
          </a:xfrm>
          <a:prstGeom prst="rect">
            <a:avLst/>
          </a:prstGeom>
        </p:spPr>
      </p:pic>
      <p:grpSp>
        <p:nvGrpSpPr>
          <p:cNvPr name="Group 55" id="5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6" id="5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582900" y="812800"/>
            <a:ext cx="368300" cy="3683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633700" y="469900"/>
            <a:ext cx="266700" cy="406400"/>
          </a:xfrm>
          <a:prstGeom prst="rect">
            <a:avLst/>
          </a:prstGeom>
        </p:spPr>
      </p:pic>
      <p:grpSp>
        <p:nvGrpSpPr>
          <p:cNvPr name="Group 58" id="5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9" id="5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421100" y="812800"/>
            <a:ext cx="368300" cy="3683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459200" y="469900"/>
            <a:ext cx="266700" cy="4064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480000">
            <a:off x="13893800" y="8699500"/>
            <a:ext cx="5054600" cy="2832100"/>
          </a:xfrm>
          <a:prstGeom prst="rect">
            <a:avLst/>
          </a:prstGeom>
        </p:spPr>
      </p:pic>
      <p:sp>
        <p:nvSpPr>
          <p:cNvPr name="TextBox 62" id="62"/>
          <p:cNvSpPr txBox="true"/>
          <p:nvPr/>
        </p:nvSpPr>
        <p:spPr>
          <a:xfrm rot="0">
            <a:off x="2705100" y="3022600"/>
            <a:ext cx="7391400" cy="1257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2919"/>
              </a:lnSpc>
            </a:pPr>
            <a:r>
              <a:rPr lang="en-US" sz="4700" b="false" i="false" u="none" strike="noStrike" spc="-300">
                <a:solidFill>
                  <a:srgbClr val="655340"/>
                </a:solidFill>
                <a:latin typeface="Gowun Batang Regular"/>
              </a:rPr>
              <a:t>“</a:t>
            </a:r>
            <a:r>
              <a:rPr lang="ko-KR" sz="4700" b="false" i="false" u="none" strike="noStrike" spc="-300">
                <a:solidFill>
                  <a:srgbClr val="655340"/>
                </a:solidFill>
                <a:ea typeface="Gowun Batang Regular"/>
              </a:rPr>
              <a:t>사랑도</a:t>
            </a:r>
            <a:r>
              <a:rPr lang="en-US" sz="47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4700" b="false" i="false" u="none" strike="noStrike" spc="-300">
                <a:solidFill>
                  <a:srgbClr val="655340"/>
                </a:solidFill>
                <a:ea typeface="Gowun Batang Regular"/>
              </a:rPr>
              <a:t>프로세스가</a:t>
            </a:r>
            <a:r>
              <a:rPr lang="en-US" sz="47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4700" b="false" i="false" u="none" strike="noStrike" spc="-300">
                <a:solidFill>
                  <a:srgbClr val="655340"/>
                </a:solidFill>
                <a:ea typeface="Gowun Batang Regular"/>
              </a:rPr>
              <a:t>필요해</a:t>
            </a:r>
            <a:r>
              <a:rPr lang="en-US" sz="4700" b="false" i="false" u="none" strike="noStrike" spc="-300">
                <a:solidFill>
                  <a:srgbClr val="655340"/>
                </a:solidFill>
                <a:latin typeface="Gowun Batang Regular"/>
              </a:rPr>
              <a:t>”</a:t>
            </a:r>
            <a:r>
              <a:rPr lang="en-US" sz="3100" b="false" i="false" u="none" strike="noStrike" spc="-200">
                <a:solidFill>
                  <a:srgbClr val="655340"/>
                </a:solidFill>
                <a:latin typeface="Gowun Batang Regular"/>
              </a:rPr>
              <a:t> </a:t>
            </a:r>
          </a:p>
          <a:p>
            <a:pPr algn="l" lvl="0">
              <a:lnSpc>
                <a:spcPct val="102919"/>
              </a:lnSpc>
            </a:pPr>
            <a:r>
              <a:rPr lang="en-US" sz="2800" b="false" i="false" u="none" strike="noStrike" spc="-100">
                <a:solidFill>
                  <a:srgbClr val="655340"/>
                </a:solidFill>
                <a:latin typeface="Gowun Batang Regular"/>
              </a:rPr>
              <a:t>– </a:t>
            </a:r>
            <a:r>
              <a:rPr lang="ko-KR" sz="2800" b="false" i="false" u="none" strike="noStrike" spc="-100">
                <a:solidFill>
                  <a:srgbClr val="655340"/>
                </a:solidFill>
                <a:ea typeface="Gowun Batang Regular"/>
              </a:rPr>
              <a:t>커플상담을</a:t>
            </a:r>
            <a:r>
              <a:rPr lang="en-US" sz="2800" b="false" i="false" u="none" strike="noStrike" spc="-1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800" b="false" i="false" u="none" strike="noStrike" spc="-100">
                <a:solidFill>
                  <a:srgbClr val="655340"/>
                </a:solidFill>
                <a:ea typeface="Gowun Batang Regular"/>
              </a:rPr>
              <a:t>모티브로</a:t>
            </a:r>
            <a:r>
              <a:rPr lang="en-US" sz="2800" b="false" i="false" u="none" strike="noStrike" spc="-1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800" b="false" i="false" u="none" strike="noStrike" spc="-100">
                <a:solidFill>
                  <a:srgbClr val="655340"/>
                </a:solidFill>
                <a:ea typeface="Gowun Batang Regular"/>
              </a:rPr>
              <a:t>한</a:t>
            </a:r>
            <a:r>
              <a:rPr lang="en-US" sz="2800" b="false" i="false" u="none" strike="noStrike" spc="-1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800" b="false" i="false" u="none" strike="noStrike" spc="-100">
                <a:solidFill>
                  <a:srgbClr val="655340"/>
                </a:solidFill>
                <a:ea typeface="Gowun Batang Regular"/>
              </a:rPr>
              <a:t>커플</a:t>
            </a:r>
            <a:r>
              <a:rPr lang="en-US" sz="2800" b="false" i="false" u="none" strike="noStrike" spc="-1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800" b="false" i="false" u="none" strike="noStrike" spc="-100">
                <a:solidFill>
                  <a:srgbClr val="655340"/>
                </a:solidFill>
                <a:ea typeface="Gowun Batang Regular"/>
              </a:rPr>
              <a:t>커뮤니케이션</a:t>
            </a:r>
            <a:r>
              <a:rPr lang="en-US" sz="2800" b="false" i="false" u="none" strike="noStrike" spc="-1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800" b="false" i="false" u="none" strike="noStrike" spc="-100">
                <a:solidFill>
                  <a:srgbClr val="655340"/>
                </a:solidFill>
                <a:ea typeface="Gowun Batang Regular"/>
              </a:rPr>
              <a:t>솔루션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705100" y="4775200"/>
            <a:ext cx="6388100" cy="825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이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프로젝트는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연인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또는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부부가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겪는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갈등을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해결하기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위해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AI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가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중립적인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상담사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역할을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수행하는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실시간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대화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플랫폼입니다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705100" y="6007100"/>
            <a:ext cx="6388100" cy="2184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6119"/>
              </a:lnSpc>
            </a:pP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실제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커플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상담을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모티브로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하여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시간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제한과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상황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동기화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감정수용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타인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수용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등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다양한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심리적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전문성을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갖춘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서비스를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제공합니다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. </a:t>
            </a:r>
          </a:p>
          <a:p>
            <a:pPr algn="l" lvl="0">
              <a:lnSpc>
                <a:spcPct val="136119"/>
              </a:lnSpc>
            </a:pP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전문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상담이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부담스러운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사용자에게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가볍지만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효과적인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AI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기반의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대화형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상담을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제공하는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것이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핵심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기획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22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의도입니다</a:t>
            </a:r>
            <a:r>
              <a:rPr lang="en-US" sz="22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.</a:t>
            </a:r>
          </a:p>
        </p:txBody>
      </p:sp>
      <p:pic>
        <p:nvPicPr>
          <p:cNvPr name="Picture 65" id="6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408400" y="6591300"/>
            <a:ext cx="1689100" cy="19304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66700" y="8356600"/>
            <a:ext cx="1943100" cy="16510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1080000">
            <a:off x="-393700" y="1384300"/>
            <a:ext cx="2235200" cy="2336800"/>
          </a:xfrm>
          <a:prstGeom prst="rect">
            <a:avLst/>
          </a:prstGeom>
        </p:spPr>
      </p:pic>
      <p:grpSp>
        <p:nvGrpSpPr>
          <p:cNvPr name="Group 68" id="6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9" id="6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391900" y="1955800"/>
            <a:ext cx="3784600" cy="76835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620500" y="2146300"/>
            <a:ext cx="3340100" cy="73025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607800" y="7429500"/>
            <a:ext cx="3340100" cy="1981200"/>
          </a:xfrm>
          <a:prstGeom prst="rect">
            <a:avLst/>
          </a:prstGeom>
        </p:spPr>
      </p:pic>
      <p:sp>
        <p:nvSpPr>
          <p:cNvPr name="TextBox 72" id="72"/>
          <p:cNvSpPr txBox="true"/>
          <p:nvPr/>
        </p:nvSpPr>
        <p:spPr>
          <a:xfrm rot="0">
            <a:off x="2705100" y="2222500"/>
            <a:ext cx="32004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7940"/>
              </a:lnSpc>
            </a:pP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Chapter.01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기획</a:t>
            </a: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의도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23900" y="647700"/>
            <a:ext cx="16840200" cy="89916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98600" y="812800"/>
            <a:ext cx="368300" cy="36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49400" y="469900"/>
            <a:ext cx="266700" cy="4064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24100" y="812800"/>
            <a:ext cx="368300" cy="368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74900" y="469900"/>
            <a:ext cx="266700" cy="4064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62300" y="812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13100" y="469900"/>
            <a:ext cx="266700" cy="4064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987800" y="812800"/>
            <a:ext cx="368300" cy="368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038600" y="469900"/>
            <a:ext cx="266700" cy="4064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13300" y="812800"/>
            <a:ext cx="368300" cy="368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64100" y="469900"/>
            <a:ext cx="266700" cy="4064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38800" y="812800"/>
            <a:ext cx="368300" cy="368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89600" y="469900"/>
            <a:ext cx="266700" cy="4064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0" y="812800"/>
            <a:ext cx="368300" cy="368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527800" y="469900"/>
            <a:ext cx="266700" cy="4064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02500" y="812800"/>
            <a:ext cx="368300" cy="368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53300" y="469900"/>
            <a:ext cx="266700" cy="4064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128000" y="812800"/>
            <a:ext cx="368300" cy="368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78800" y="469900"/>
            <a:ext cx="266700" cy="4064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953500" y="812800"/>
            <a:ext cx="368300" cy="3683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004300" y="469900"/>
            <a:ext cx="266700" cy="4064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4" id="3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91700" y="812800"/>
            <a:ext cx="368300" cy="368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42500" y="469900"/>
            <a:ext cx="266700" cy="4064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17200" y="812800"/>
            <a:ext cx="368300" cy="3683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68000" y="469900"/>
            <a:ext cx="266700" cy="406400"/>
          </a:xfrm>
          <a:prstGeom prst="rect">
            <a:avLst/>
          </a:prstGeom>
        </p:spPr>
      </p:pic>
      <p:grpSp>
        <p:nvGrpSpPr>
          <p:cNvPr name="Group 39" id="3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0" id="4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442700" y="812800"/>
            <a:ext cx="368300" cy="3683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93500" y="469900"/>
            <a:ext cx="266700" cy="406400"/>
          </a:xfrm>
          <a:prstGeom prst="rect">
            <a:avLst/>
          </a:prstGeom>
        </p:spPr>
      </p:pic>
      <p:grpSp>
        <p:nvGrpSpPr>
          <p:cNvPr name="Group 42" id="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3" id="4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268200" y="812800"/>
            <a:ext cx="368300" cy="3683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19000" y="469900"/>
            <a:ext cx="266700" cy="406400"/>
          </a:xfrm>
          <a:prstGeom prst="rect">
            <a:avLst/>
          </a:prstGeom>
        </p:spPr>
      </p:pic>
      <p:grpSp>
        <p:nvGrpSpPr>
          <p:cNvPr name="Group 45" id="4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6" id="4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06400" y="812800"/>
            <a:ext cx="368300" cy="3683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157200" y="469900"/>
            <a:ext cx="266700" cy="4064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31900" y="812800"/>
            <a:ext cx="368300" cy="3683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82700" y="469900"/>
            <a:ext cx="266700" cy="406400"/>
          </a:xfrm>
          <a:prstGeom prst="rect">
            <a:avLst/>
          </a:prstGeom>
        </p:spPr>
      </p:pic>
      <p:grpSp>
        <p:nvGrpSpPr>
          <p:cNvPr name="Group 51" id="5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2" id="5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757400" y="812800"/>
            <a:ext cx="368300" cy="3683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08200" y="469900"/>
            <a:ext cx="266700" cy="40640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582900" y="812800"/>
            <a:ext cx="368300" cy="3683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633700" y="469900"/>
            <a:ext cx="266700" cy="4064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421100" y="812800"/>
            <a:ext cx="368300" cy="3683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459200" y="469900"/>
            <a:ext cx="266700" cy="406400"/>
          </a:xfrm>
          <a:prstGeom prst="rect">
            <a:avLst/>
          </a:prstGeom>
        </p:spPr>
      </p:pic>
      <p:sp>
        <p:nvSpPr>
          <p:cNvPr name="TextBox 60" id="60"/>
          <p:cNvSpPr txBox="true"/>
          <p:nvPr/>
        </p:nvSpPr>
        <p:spPr>
          <a:xfrm rot="0">
            <a:off x="3657600" y="2565400"/>
            <a:ext cx="10985500" cy="965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5400" b="false" i="false" u="none" strike="noStrike" spc="-300">
                <a:solidFill>
                  <a:srgbClr val="655340"/>
                </a:solidFill>
                <a:ea typeface="Gowun Batang Regular"/>
              </a:rPr>
              <a:t>사랑과</a:t>
            </a:r>
            <a:r>
              <a:rPr lang="en-US" sz="54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400" b="false" i="false" u="none" strike="noStrike" spc="-300">
                <a:solidFill>
                  <a:srgbClr val="655340"/>
                </a:solidFill>
                <a:ea typeface="Gowun Batang Regular"/>
              </a:rPr>
              <a:t>이해를</a:t>
            </a:r>
            <a:r>
              <a:rPr lang="en-US" sz="54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400" b="false" i="false" u="none" strike="noStrike" spc="-300">
                <a:solidFill>
                  <a:srgbClr val="655340"/>
                </a:solidFill>
                <a:ea typeface="Gowun Batang Regular"/>
              </a:rPr>
              <a:t>돕는</a:t>
            </a:r>
            <a:r>
              <a:rPr lang="en-US" sz="54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400" b="false" i="false" u="none" strike="noStrike" spc="-300">
                <a:solidFill>
                  <a:srgbClr val="655340"/>
                </a:solidFill>
                <a:ea typeface="Gowun Batang Regular"/>
              </a:rPr>
              <a:t>기술이</a:t>
            </a:r>
            <a:r>
              <a:rPr lang="en-US" sz="54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400" b="false" i="false" u="none" strike="noStrike" spc="-300">
                <a:solidFill>
                  <a:srgbClr val="655340"/>
                </a:solidFill>
                <a:ea typeface="Gowun Batang Regular"/>
              </a:rPr>
              <a:t>필요한</a:t>
            </a:r>
            <a:r>
              <a:rPr lang="en-US" sz="54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400" b="false" i="false" u="none" strike="noStrike" spc="-300">
                <a:solidFill>
                  <a:srgbClr val="655340"/>
                </a:solidFill>
                <a:ea typeface="Gowun Batang Regular"/>
              </a:rPr>
              <a:t>세상</a:t>
            </a:r>
          </a:p>
        </p:txBody>
      </p:sp>
      <p:pic>
        <p:nvPicPr>
          <p:cNvPr name="Picture 61" id="6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302500" y="4051300"/>
            <a:ext cx="4140200" cy="49149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6">
            <a:alphaModFix amt="46000"/>
          </a:blip>
          <a:stretch>
            <a:fillRect/>
          </a:stretch>
        </p:blipFill>
        <p:spPr>
          <a:xfrm rot="0">
            <a:off x="11811000" y="4229100"/>
            <a:ext cx="4787900" cy="22860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6">
            <a:alphaModFix amt="46000"/>
          </a:blip>
          <a:stretch>
            <a:fillRect/>
          </a:stretch>
        </p:blipFill>
        <p:spPr>
          <a:xfrm rot="0">
            <a:off x="11811000" y="6692900"/>
            <a:ext cx="4787900" cy="22860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7">
            <a:alphaModFix amt="46000"/>
          </a:blip>
          <a:stretch>
            <a:fillRect/>
          </a:stretch>
        </p:blipFill>
        <p:spPr>
          <a:xfrm rot="0">
            <a:off x="1498600" y="4229100"/>
            <a:ext cx="5346700" cy="22860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7">
            <a:alphaModFix amt="46000"/>
          </a:blip>
          <a:stretch>
            <a:fillRect/>
          </a:stretch>
        </p:blipFill>
        <p:spPr>
          <a:xfrm rot="0">
            <a:off x="1498600" y="6692900"/>
            <a:ext cx="5346700" cy="22860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802100" y="1562100"/>
            <a:ext cx="1485900" cy="16891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 rot="0">
            <a:off x="2032000" y="5080000"/>
            <a:ext cx="4076700" cy="12700"/>
          </a:xfrm>
          <a:prstGeom prst="rect">
            <a:avLst/>
          </a:prstGeom>
        </p:spPr>
      </p:pic>
      <p:sp>
        <p:nvSpPr>
          <p:cNvPr name="TextBox 68" id="68"/>
          <p:cNvSpPr txBox="true"/>
          <p:nvPr/>
        </p:nvSpPr>
        <p:spPr>
          <a:xfrm rot="0">
            <a:off x="-25400" y="2209800"/>
            <a:ext cx="183388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7940"/>
              </a:lnSpc>
            </a:pP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Chapter.01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시장</a:t>
            </a: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,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성장성</a:t>
            </a: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분석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473200" y="4318000"/>
            <a:ext cx="54102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500" b="false" i="false" u="none" strike="noStrike" spc="-100">
                <a:solidFill>
                  <a:srgbClr val="9A8064"/>
                </a:solidFill>
                <a:ea typeface="Gowun Batang Regular"/>
              </a:rPr>
              <a:t>주요</a:t>
            </a:r>
            <a:r>
              <a:rPr lang="en-US" sz="25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500" b="false" i="false" u="none" strike="noStrike" spc="-100">
                <a:solidFill>
                  <a:srgbClr val="9A8064"/>
                </a:solidFill>
                <a:ea typeface="Gowun Batang Regular"/>
              </a:rPr>
              <a:t>타깃</a:t>
            </a:r>
            <a:r>
              <a:rPr lang="en-US" sz="25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500" b="false" i="false" u="none" strike="noStrike" spc="-100">
                <a:solidFill>
                  <a:srgbClr val="9A8064"/>
                </a:solidFill>
                <a:ea typeface="Gowun Batang Regular"/>
              </a:rPr>
              <a:t>시장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473200" y="4914900"/>
            <a:ext cx="5384800" cy="1409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6119"/>
              </a:lnSpc>
            </a:pP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연인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/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커플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사용자층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: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갈등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해결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감정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조율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등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관계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개선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니즈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보유</a:t>
            </a:r>
          </a:p>
          <a:p>
            <a:pPr algn="ctr" lvl="0">
              <a:lnSpc>
                <a:spcPct val="136119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Z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세대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및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MZ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세대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: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비대면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즉각적이고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부담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없는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상담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방식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선호</a:t>
            </a:r>
          </a:p>
          <a:p>
            <a:pPr algn="ctr" lvl="0">
              <a:lnSpc>
                <a:spcPct val="136119"/>
              </a:lnSpc>
            </a:pP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심리적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접근이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어려운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사용자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: </a:t>
            </a:r>
            <a:b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</a:b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사람에게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직접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털어놓기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어려운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사람들</a:t>
            </a:r>
          </a:p>
        </p:txBody>
      </p:sp>
      <p:pic>
        <p:nvPicPr>
          <p:cNvPr name="Picture 71" id="71"/>
          <p:cNvPicPr>
            <a:picLocks noChangeAspect="true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 rot="0">
            <a:off x="2032000" y="7581900"/>
            <a:ext cx="4076700" cy="12700"/>
          </a:xfrm>
          <a:prstGeom prst="rect">
            <a:avLst/>
          </a:prstGeom>
        </p:spPr>
      </p:pic>
      <p:sp>
        <p:nvSpPr>
          <p:cNvPr name="TextBox 72" id="72"/>
          <p:cNvSpPr txBox="true"/>
          <p:nvPr/>
        </p:nvSpPr>
        <p:spPr>
          <a:xfrm rot="0">
            <a:off x="11798300" y="4724400"/>
            <a:ext cx="4826000" cy="176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6119"/>
              </a:lnSpc>
            </a:pP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미국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: </a:t>
            </a:r>
          </a:p>
          <a:p>
            <a:pPr algn="ctr" lvl="0">
              <a:lnSpc>
                <a:spcPct val="136119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Relish: 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미국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기반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커플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성장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코칭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앱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퀴즈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·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코칭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중심</a:t>
            </a:r>
          </a:p>
          <a:p>
            <a:pPr algn="ctr" lvl="0">
              <a:lnSpc>
                <a:spcPct val="136119"/>
              </a:lnSpc>
            </a:pP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국내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:</a:t>
            </a:r>
          </a:p>
          <a:p>
            <a:pPr algn="ctr" lvl="0">
              <a:lnSpc>
                <a:spcPct val="136119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연애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심리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콘텐츠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(e.g.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연애의과학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):</a:t>
            </a:r>
          </a:p>
          <a:p>
            <a:pPr algn="ctr" lvl="0">
              <a:lnSpc>
                <a:spcPct val="136119"/>
              </a:lnSpc>
            </a:pP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콘텐츠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위주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실시간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대화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없음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473200" y="6883400"/>
            <a:ext cx="54102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500" b="false" i="false" u="none" strike="noStrike" spc="-100">
                <a:solidFill>
                  <a:srgbClr val="9A8064"/>
                </a:solidFill>
                <a:ea typeface="Gowun Batang Regular"/>
              </a:rPr>
              <a:t>트렌드</a:t>
            </a:r>
            <a:r>
              <a:rPr lang="en-US" sz="25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500" b="false" i="false" u="none" strike="noStrike" spc="-100">
                <a:solidFill>
                  <a:srgbClr val="9A8064"/>
                </a:solidFill>
                <a:ea typeface="Gowun Batang Regular"/>
              </a:rPr>
              <a:t>기반</a:t>
            </a:r>
            <a:r>
              <a:rPr lang="en-US" sz="25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500" b="false" i="false" u="none" strike="noStrike" spc="-100">
                <a:solidFill>
                  <a:srgbClr val="9A8064"/>
                </a:solidFill>
                <a:ea typeface="Gowun Batang Regular"/>
              </a:rPr>
              <a:t>성장</a:t>
            </a:r>
            <a:r>
              <a:rPr lang="en-US" sz="25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500" b="false" i="false" u="none" strike="noStrike" spc="-100">
                <a:solidFill>
                  <a:srgbClr val="9A8064"/>
                </a:solidFill>
                <a:ea typeface="Gowun Batang Regular"/>
              </a:rPr>
              <a:t>가능성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473200" y="7416800"/>
            <a:ext cx="5384800" cy="1409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6119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AI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심리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상담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/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감정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분석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시장이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빠르게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성장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중</a:t>
            </a:r>
          </a:p>
          <a:p>
            <a:pPr algn="ctr" lvl="0">
              <a:lnSpc>
                <a:spcPct val="136119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GPT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및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LLM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공감형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대화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응용은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초기지만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유망한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분야</a:t>
            </a:r>
          </a:p>
          <a:p>
            <a:pPr algn="ctr" lvl="0">
              <a:lnSpc>
                <a:spcPct val="136119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디지털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치료제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(DTx)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감정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헬스케어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시장이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확장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중</a:t>
            </a:r>
          </a:p>
          <a:p>
            <a:pPr algn="ctr" lvl="0">
              <a:lnSpc>
                <a:spcPct val="136119"/>
              </a:lnSpc>
            </a:pP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자기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계발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연애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심리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콘텐츠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수요는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지속적으로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높음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785600" y="4318000"/>
            <a:ext cx="48514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500" b="false" i="false" u="none" strike="noStrike" spc="-100">
                <a:solidFill>
                  <a:srgbClr val="9A8064"/>
                </a:solidFill>
                <a:ea typeface="Gowun Batang Regular"/>
              </a:rPr>
              <a:t>경쟁사</a:t>
            </a:r>
            <a:r>
              <a:rPr lang="en-US" sz="25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500" b="false" i="false" u="none" strike="noStrike" spc="-100">
                <a:solidFill>
                  <a:srgbClr val="9A8064"/>
                </a:solidFill>
                <a:ea typeface="Gowun Batang Regular"/>
              </a:rPr>
              <a:t>분석</a:t>
            </a:r>
          </a:p>
        </p:txBody>
      </p:sp>
      <p:pic>
        <p:nvPicPr>
          <p:cNvPr name="Picture 76" id="7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480000">
            <a:off x="15328900" y="3835400"/>
            <a:ext cx="1473200" cy="8255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-838200" y="9194800"/>
            <a:ext cx="4686300" cy="17653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12">
            <a:alphaModFix amt="46000"/>
          </a:blip>
          <a:stretch>
            <a:fillRect/>
          </a:stretch>
        </p:blipFill>
        <p:spPr>
          <a:xfrm rot="0">
            <a:off x="2959100" y="1714500"/>
            <a:ext cx="800100" cy="1066800"/>
          </a:xfrm>
          <a:prstGeom prst="rect">
            <a:avLst/>
          </a:prstGeom>
        </p:spPr>
      </p:pic>
      <p:sp>
        <p:nvSpPr>
          <p:cNvPr name="TextBox 79" id="79"/>
          <p:cNvSpPr txBox="true"/>
          <p:nvPr/>
        </p:nvSpPr>
        <p:spPr>
          <a:xfrm rot="0">
            <a:off x="11785600" y="6921500"/>
            <a:ext cx="48514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500" b="false" i="false" u="none" strike="noStrike" spc="-100">
                <a:solidFill>
                  <a:srgbClr val="9A8064"/>
                </a:solidFill>
                <a:ea typeface="Gowun Batang Regular"/>
              </a:rPr>
              <a:t>차별점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798300" y="7378700"/>
            <a:ext cx="4826000" cy="1409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6119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GPT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기반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실시간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감정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탐지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및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브로드캐스팅</a:t>
            </a:r>
          </a:p>
          <a:p>
            <a:pPr algn="ctr" lvl="0">
              <a:lnSpc>
                <a:spcPct val="136119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커플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직접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대화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중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AI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개입하며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유도</a:t>
            </a:r>
          </a:p>
          <a:p>
            <a:pPr algn="ctr" lvl="0">
              <a:lnSpc>
                <a:spcPct val="136119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15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타이머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기반의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구조화된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감정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순차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대화</a:t>
            </a:r>
          </a:p>
          <a:p>
            <a:pPr algn="ctr" lvl="0">
              <a:lnSpc>
                <a:spcPct val="136119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감정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키워드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→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리포트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생성까지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자동화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23900" y="647700"/>
            <a:ext cx="16840200" cy="89916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98600" y="812800"/>
            <a:ext cx="368300" cy="36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49400" y="469900"/>
            <a:ext cx="266700" cy="4064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24100" y="812800"/>
            <a:ext cx="368300" cy="368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74900" y="469900"/>
            <a:ext cx="266700" cy="4064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62300" y="812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13100" y="469900"/>
            <a:ext cx="266700" cy="4064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987800" y="812800"/>
            <a:ext cx="368300" cy="368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038600" y="469900"/>
            <a:ext cx="266700" cy="4064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13300" y="812800"/>
            <a:ext cx="368300" cy="368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64100" y="469900"/>
            <a:ext cx="266700" cy="4064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38800" y="812800"/>
            <a:ext cx="368300" cy="368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89600" y="469900"/>
            <a:ext cx="266700" cy="4064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0" y="812800"/>
            <a:ext cx="368300" cy="368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527800" y="469900"/>
            <a:ext cx="266700" cy="4064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02500" y="812800"/>
            <a:ext cx="368300" cy="368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53300" y="469900"/>
            <a:ext cx="266700" cy="4064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128000" y="812800"/>
            <a:ext cx="368300" cy="368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78800" y="469900"/>
            <a:ext cx="266700" cy="4064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953500" y="812800"/>
            <a:ext cx="368300" cy="3683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004300" y="469900"/>
            <a:ext cx="266700" cy="4064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4" id="3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91700" y="812800"/>
            <a:ext cx="368300" cy="368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42500" y="469900"/>
            <a:ext cx="266700" cy="4064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17200" y="812800"/>
            <a:ext cx="368300" cy="3683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68000" y="469900"/>
            <a:ext cx="266700" cy="406400"/>
          </a:xfrm>
          <a:prstGeom prst="rect">
            <a:avLst/>
          </a:prstGeom>
        </p:spPr>
      </p:pic>
      <p:grpSp>
        <p:nvGrpSpPr>
          <p:cNvPr name="Group 39" id="3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0" id="4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442700" y="812800"/>
            <a:ext cx="368300" cy="3683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93500" y="469900"/>
            <a:ext cx="266700" cy="406400"/>
          </a:xfrm>
          <a:prstGeom prst="rect">
            <a:avLst/>
          </a:prstGeom>
        </p:spPr>
      </p:pic>
      <p:grpSp>
        <p:nvGrpSpPr>
          <p:cNvPr name="Group 42" id="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3" id="4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268200" y="812800"/>
            <a:ext cx="368300" cy="3683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19000" y="469900"/>
            <a:ext cx="266700" cy="406400"/>
          </a:xfrm>
          <a:prstGeom prst="rect">
            <a:avLst/>
          </a:prstGeom>
        </p:spPr>
      </p:pic>
      <p:grpSp>
        <p:nvGrpSpPr>
          <p:cNvPr name="Group 45" id="4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6" id="4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06400" y="812800"/>
            <a:ext cx="368300" cy="3683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157200" y="469900"/>
            <a:ext cx="266700" cy="4064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31900" y="812800"/>
            <a:ext cx="368300" cy="3683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82700" y="469900"/>
            <a:ext cx="266700" cy="406400"/>
          </a:xfrm>
          <a:prstGeom prst="rect">
            <a:avLst/>
          </a:prstGeom>
        </p:spPr>
      </p:pic>
      <p:grpSp>
        <p:nvGrpSpPr>
          <p:cNvPr name="Group 51" id="5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2" id="5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757400" y="812800"/>
            <a:ext cx="368300" cy="3683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08200" y="469900"/>
            <a:ext cx="266700" cy="40640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582900" y="812800"/>
            <a:ext cx="368300" cy="3683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633700" y="469900"/>
            <a:ext cx="266700" cy="4064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421100" y="812800"/>
            <a:ext cx="368300" cy="3683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459200" y="469900"/>
            <a:ext cx="266700" cy="406400"/>
          </a:xfrm>
          <a:prstGeom prst="rect">
            <a:avLst/>
          </a:prstGeom>
        </p:spPr>
      </p:pic>
      <p:sp>
        <p:nvSpPr>
          <p:cNvPr name="TextBox 60" id="60"/>
          <p:cNvSpPr txBox="true"/>
          <p:nvPr/>
        </p:nvSpPr>
        <p:spPr>
          <a:xfrm rot="0">
            <a:off x="3632200" y="2374900"/>
            <a:ext cx="11036300" cy="1320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7400" b="false" i="false" u="none" strike="noStrike" spc="-400">
                <a:solidFill>
                  <a:srgbClr val="655340"/>
                </a:solidFill>
                <a:ea typeface="Gowun Batang Regular"/>
              </a:rPr>
              <a:t>감정을</a:t>
            </a:r>
            <a:r>
              <a:rPr lang="en-US" sz="7400" b="false" i="false" u="none" strike="noStrike" spc="-4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7400" b="false" i="false" u="none" strike="noStrike" spc="-400">
                <a:solidFill>
                  <a:srgbClr val="655340"/>
                </a:solidFill>
                <a:ea typeface="Gowun Batang Regular"/>
              </a:rPr>
              <a:t>이해하고자</a:t>
            </a:r>
            <a:r>
              <a:rPr lang="en-US" sz="7400" b="false" i="false" u="none" strike="noStrike" spc="-4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7400" b="false" i="false" u="none" strike="noStrike" spc="-400">
                <a:solidFill>
                  <a:srgbClr val="655340"/>
                </a:solidFill>
                <a:ea typeface="Gowun Batang Regular"/>
              </a:rPr>
              <a:t>모인</a:t>
            </a:r>
            <a:r>
              <a:rPr lang="en-US" sz="7400" b="false" i="false" u="none" strike="noStrike" spc="-4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7400" b="false" i="false" u="none" strike="noStrike" spc="-400">
                <a:solidFill>
                  <a:srgbClr val="655340"/>
                </a:solidFill>
                <a:ea typeface="Gowun Batang Regular"/>
              </a:rPr>
              <a:t>팀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-25400" y="2057400"/>
            <a:ext cx="183388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7940"/>
              </a:lnSpc>
            </a:pP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Chapter.01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팀</a:t>
            </a: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소개</a:t>
            </a:r>
          </a:p>
        </p:txBody>
      </p:sp>
      <p:pic>
        <p:nvPicPr>
          <p:cNvPr name="Picture 62" id="6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0200" y="1828800"/>
            <a:ext cx="1358900" cy="15367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080000">
            <a:off x="16294100" y="8115300"/>
            <a:ext cx="2235200" cy="23368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7">
            <a:alphaModFix amt="46000"/>
          </a:blip>
          <a:stretch>
            <a:fillRect/>
          </a:stretch>
        </p:blipFill>
        <p:spPr>
          <a:xfrm rot="0">
            <a:off x="15773400" y="2070100"/>
            <a:ext cx="800100" cy="10668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2700000">
            <a:off x="2362200" y="4216400"/>
            <a:ext cx="2070100" cy="2006600"/>
          </a:xfrm>
          <a:prstGeom prst="rect">
            <a:avLst/>
          </a:prstGeom>
        </p:spPr>
      </p:pic>
      <p:sp>
        <p:nvSpPr>
          <p:cNvPr name="TextBox 66" id="66"/>
          <p:cNvSpPr txBox="true"/>
          <p:nvPr/>
        </p:nvSpPr>
        <p:spPr>
          <a:xfrm rot="0">
            <a:off x="2832100" y="4914900"/>
            <a:ext cx="11557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500" b="false" i="false" u="none" strike="noStrike" spc="100">
                <a:solidFill>
                  <a:srgbClr val="FEFCF8"/>
                </a:solidFill>
                <a:ea typeface="Gowun Batang Regular"/>
              </a:rPr>
              <a:t>이민영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222500" y="6489700"/>
            <a:ext cx="23749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en-US" sz="2500" b="false" i="false" u="none" strike="noStrike" spc="-100">
                <a:solidFill>
                  <a:srgbClr val="9A8064"/>
                </a:solidFill>
                <a:latin typeface="Gowun Batang Regular"/>
              </a:rPr>
              <a:t>[ Team Leader ]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095500" y="7327900"/>
            <a:ext cx="2628900" cy="1003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3669"/>
              </a:lnSpc>
            </a:pP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프로젝트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아키텍처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설계</a:t>
            </a:r>
          </a:p>
          <a:p>
            <a:pPr algn="ctr" lvl="0">
              <a:lnSpc>
                <a:spcPct val="123669"/>
              </a:lnSpc>
            </a:pP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AWS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기반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인프라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구축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및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</a:t>
            </a:r>
          </a:p>
          <a:p>
            <a:pPr algn="ctr" lvl="0">
              <a:lnSpc>
                <a:spcPct val="123669"/>
              </a:lnSpc>
            </a:pP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배포</a:t>
            </a:r>
          </a:p>
        </p:txBody>
      </p:sp>
      <p:pic>
        <p:nvPicPr>
          <p:cNvPr name="Picture 69" id="6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308600" y="4521200"/>
            <a:ext cx="2489200" cy="1397000"/>
          </a:xfrm>
          <a:prstGeom prst="rect">
            <a:avLst/>
          </a:prstGeom>
        </p:spPr>
      </p:pic>
      <p:sp>
        <p:nvSpPr>
          <p:cNvPr name="TextBox 70" id="70"/>
          <p:cNvSpPr txBox="true"/>
          <p:nvPr/>
        </p:nvSpPr>
        <p:spPr>
          <a:xfrm rot="0">
            <a:off x="5943600" y="4927600"/>
            <a:ext cx="11557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500" b="false" i="false" u="none" strike="noStrike" spc="100">
                <a:solidFill>
                  <a:srgbClr val="FEFCF8"/>
                </a:solidFill>
                <a:ea typeface="Gowun Batang Regular"/>
              </a:rPr>
              <a:t>박성리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5156200" y="6489700"/>
            <a:ext cx="23749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en-US" sz="2500" b="false" i="false" u="none" strike="noStrike" spc="-100">
                <a:solidFill>
                  <a:srgbClr val="9A8064"/>
                </a:solidFill>
                <a:latin typeface="Gowun Batang Regular"/>
              </a:rPr>
              <a:t>[ Chat ]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5029200" y="7327900"/>
            <a:ext cx="2628900" cy="1003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3669"/>
              </a:lnSpc>
            </a:pP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python fast api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기반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웹소켓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서버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구축과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각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주제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별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채팅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세션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분리</a:t>
            </a:r>
          </a:p>
        </p:txBody>
      </p:sp>
      <p:pic>
        <p:nvPicPr>
          <p:cNvPr name="Picture 73" id="7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239500" y="4102100"/>
            <a:ext cx="2197100" cy="2222500"/>
          </a:xfrm>
          <a:prstGeom prst="rect">
            <a:avLst/>
          </a:prstGeom>
        </p:spPr>
      </p:pic>
      <p:sp>
        <p:nvSpPr>
          <p:cNvPr name="TextBox 74" id="74"/>
          <p:cNvSpPr txBox="true"/>
          <p:nvPr/>
        </p:nvSpPr>
        <p:spPr>
          <a:xfrm rot="0">
            <a:off x="11760200" y="4940300"/>
            <a:ext cx="11557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500" b="false" i="false" u="none" strike="noStrike" spc="100">
                <a:solidFill>
                  <a:srgbClr val="FEFCF8"/>
                </a:solidFill>
                <a:ea typeface="Gowun Batang Regular"/>
              </a:rPr>
              <a:t>한예은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061700" y="6489700"/>
            <a:ext cx="23749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en-US" sz="2500" b="false" i="false" u="none" strike="noStrike" spc="-100">
                <a:solidFill>
                  <a:srgbClr val="9A8064"/>
                </a:solidFill>
                <a:latin typeface="Gowun Batang Regular"/>
              </a:rPr>
              <a:t>[ Report ]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845800" y="7302500"/>
            <a:ext cx="2857500" cy="1003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3669"/>
              </a:lnSpc>
            </a:pP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채팅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로그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기반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GPT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호출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및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리포트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파싱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/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저장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커플별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</a:t>
            </a:r>
          </a:p>
          <a:p>
            <a:pPr algn="ctr" lvl="0">
              <a:lnSpc>
                <a:spcPct val="123669"/>
              </a:lnSpc>
            </a:pP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감정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요약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및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개선방안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자동화</a:t>
            </a:r>
          </a:p>
        </p:txBody>
      </p:sp>
      <p:pic>
        <p:nvPicPr>
          <p:cNvPr name="Picture 77" id="7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817600" y="4267200"/>
            <a:ext cx="2247900" cy="1714500"/>
          </a:xfrm>
          <a:prstGeom prst="rect">
            <a:avLst/>
          </a:prstGeom>
        </p:spPr>
      </p:pic>
      <p:sp>
        <p:nvSpPr>
          <p:cNvPr name="TextBox 78" id="78"/>
          <p:cNvSpPr txBox="true"/>
          <p:nvPr/>
        </p:nvSpPr>
        <p:spPr>
          <a:xfrm rot="0">
            <a:off x="14325600" y="4940300"/>
            <a:ext cx="11557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500" b="false" i="false" u="none" strike="noStrike" spc="100">
                <a:solidFill>
                  <a:srgbClr val="FEFCF8"/>
                </a:solidFill>
                <a:ea typeface="Gowun Batang Regular"/>
              </a:rPr>
              <a:t>우원경</a:t>
            </a:r>
          </a:p>
        </p:txBody>
      </p:sp>
      <p:grpSp>
        <p:nvGrpSpPr>
          <p:cNvPr name="Group 79" id="7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sp>
        <p:nvSpPr>
          <p:cNvPr name="TextBox 80" id="80"/>
          <p:cNvSpPr txBox="true"/>
          <p:nvPr/>
        </p:nvSpPr>
        <p:spPr>
          <a:xfrm rot="0">
            <a:off x="13843000" y="6489700"/>
            <a:ext cx="23749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en-US" sz="2500" b="false" i="false" u="none" strike="noStrike" spc="-100">
                <a:solidFill>
                  <a:srgbClr val="9A8064"/>
                </a:solidFill>
                <a:latin typeface="Gowun Batang Regular"/>
              </a:rPr>
              <a:t>[ AI ]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3716000" y="7150100"/>
            <a:ext cx="2628900" cy="1346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3669"/>
              </a:lnSpc>
            </a:pP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채팅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로그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기반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KoNLPy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형태소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분석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및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감정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흐름파악</a:t>
            </a:r>
          </a:p>
          <a:p>
            <a:pPr algn="ctr" lvl="0">
              <a:lnSpc>
                <a:spcPct val="123669"/>
              </a:lnSpc>
            </a:pP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GPT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모델과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결합하여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관계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진단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및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리포트생성</a:t>
            </a:r>
          </a:p>
        </p:txBody>
      </p:sp>
      <p:pic>
        <p:nvPicPr>
          <p:cNvPr name="Picture 82" id="8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458200" y="4000500"/>
            <a:ext cx="1854200" cy="2286000"/>
          </a:xfrm>
          <a:prstGeom prst="rect">
            <a:avLst/>
          </a:prstGeom>
        </p:spPr>
      </p:pic>
      <p:sp>
        <p:nvSpPr>
          <p:cNvPr name="TextBox 83" id="83"/>
          <p:cNvSpPr txBox="true"/>
          <p:nvPr/>
        </p:nvSpPr>
        <p:spPr>
          <a:xfrm rot="0">
            <a:off x="8750300" y="4902200"/>
            <a:ext cx="11557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500" b="false" i="false" u="none" strike="noStrike" spc="100">
                <a:solidFill>
                  <a:srgbClr val="FEFCF8"/>
                </a:solidFill>
                <a:ea typeface="Gowun Batang Regular"/>
              </a:rPr>
              <a:t>이한솔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8102600" y="6438900"/>
            <a:ext cx="23749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en-US" sz="2500" b="false" i="false" u="none" strike="noStrike" spc="-100">
                <a:solidFill>
                  <a:srgbClr val="9A8064"/>
                </a:solidFill>
                <a:latin typeface="Gowun Batang Regular"/>
              </a:rPr>
              <a:t>[ User/Security ]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7975600" y="7277100"/>
            <a:ext cx="2628900" cy="1003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3669"/>
              </a:lnSpc>
            </a:pP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JWT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기반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인증과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이메일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인증을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제공하는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커플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매칭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/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관리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서비스의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백엔드</a:t>
            </a:r>
            <a:r>
              <a:rPr lang="en-US" sz="1800" b="false" i="false" u="none" strike="noStrike">
                <a:solidFill>
                  <a:srgbClr val="655340">
                    <a:alpha val="65882"/>
                  </a:srgbClr>
                </a:solidFill>
                <a:latin typeface="Pretendard Light"/>
              </a:rPr>
              <a:t> API </a:t>
            </a:r>
            <a:r>
              <a:rPr lang="ko-KR" sz="1800" b="false" i="false" u="none" strike="noStrike">
                <a:solidFill>
                  <a:srgbClr val="655340">
                    <a:alpha val="65882"/>
                  </a:srgbClr>
                </a:solidFill>
                <a:ea typeface="Pretendard Light"/>
              </a:rPr>
              <a:t>서버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23900" y="647700"/>
            <a:ext cx="16840200" cy="89916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98600" y="812800"/>
            <a:ext cx="368300" cy="36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49400" y="469900"/>
            <a:ext cx="266700" cy="4064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24100" y="812800"/>
            <a:ext cx="368300" cy="368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74900" y="469900"/>
            <a:ext cx="266700" cy="4064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62300" y="812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13100" y="469900"/>
            <a:ext cx="266700" cy="4064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987800" y="812800"/>
            <a:ext cx="368300" cy="368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038600" y="469900"/>
            <a:ext cx="266700" cy="4064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13300" y="812800"/>
            <a:ext cx="368300" cy="368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64100" y="469900"/>
            <a:ext cx="266700" cy="4064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38800" y="812800"/>
            <a:ext cx="368300" cy="368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89600" y="469900"/>
            <a:ext cx="266700" cy="4064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0" y="812800"/>
            <a:ext cx="368300" cy="368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527800" y="469900"/>
            <a:ext cx="266700" cy="4064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02500" y="812800"/>
            <a:ext cx="368300" cy="368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53300" y="469900"/>
            <a:ext cx="266700" cy="4064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128000" y="812800"/>
            <a:ext cx="368300" cy="368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78800" y="469900"/>
            <a:ext cx="266700" cy="4064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953500" y="812800"/>
            <a:ext cx="368300" cy="3683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004300" y="469900"/>
            <a:ext cx="266700" cy="4064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4" id="3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91700" y="812800"/>
            <a:ext cx="368300" cy="368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42500" y="469900"/>
            <a:ext cx="266700" cy="4064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17200" y="812800"/>
            <a:ext cx="368300" cy="3683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68000" y="469900"/>
            <a:ext cx="266700" cy="406400"/>
          </a:xfrm>
          <a:prstGeom prst="rect">
            <a:avLst/>
          </a:prstGeom>
        </p:spPr>
      </p:pic>
      <p:grpSp>
        <p:nvGrpSpPr>
          <p:cNvPr name="Group 39" id="3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0" id="4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442700" y="812800"/>
            <a:ext cx="368300" cy="3683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93500" y="469900"/>
            <a:ext cx="266700" cy="406400"/>
          </a:xfrm>
          <a:prstGeom prst="rect">
            <a:avLst/>
          </a:prstGeom>
        </p:spPr>
      </p:pic>
      <p:grpSp>
        <p:nvGrpSpPr>
          <p:cNvPr name="Group 42" id="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3" id="4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268200" y="812800"/>
            <a:ext cx="368300" cy="3683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19000" y="469900"/>
            <a:ext cx="266700" cy="406400"/>
          </a:xfrm>
          <a:prstGeom prst="rect">
            <a:avLst/>
          </a:prstGeom>
        </p:spPr>
      </p:pic>
      <p:grpSp>
        <p:nvGrpSpPr>
          <p:cNvPr name="Group 45" id="4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6" id="4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06400" y="812800"/>
            <a:ext cx="368300" cy="3683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157200" y="469900"/>
            <a:ext cx="266700" cy="4064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31900" y="812800"/>
            <a:ext cx="368300" cy="3683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82700" y="469900"/>
            <a:ext cx="266700" cy="406400"/>
          </a:xfrm>
          <a:prstGeom prst="rect">
            <a:avLst/>
          </a:prstGeom>
        </p:spPr>
      </p:pic>
      <p:grpSp>
        <p:nvGrpSpPr>
          <p:cNvPr name="Group 51" id="5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2" id="5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757400" y="812800"/>
            <a:ext cx="368300" cy="3683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08200" y="469900"/>
            <a:ext cx="266700" cy="40640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582900" y="812800"/>
            <a:ext cx="368300" cy="3683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633700" y="469900"/>
            <a:ext cx="266700" cy="4064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421100" y="812800"/>
            <a:ext cx="368300" cy="3683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459200" y="469900"/>
            <a:ext cx="266700" cy="4064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03900" y="3251200"/>
            <a:ext cx="3124200" cy="30861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47200" y="3251200"/>
            <a:ext cx="3124200" cy="30861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 rot="0">
            <a:off x="2425700" y="7277100"/>
            <a:ext cx="2806700" cy="127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903200" y="3251200"/>
            <a:ext cx="3124200" cy="3086100"/>
          </a:xfrm>
          <a:prstGeom prst="rect">
            <a:avLst/>
          </a:prstGeom>
        </p:spPr>
      </p:pic>
      <p:sp>
        <p:nvSpPr>
          <p:cNvPr name="TextBox 64" id="64"/>
          <p:cNvSpPr txBox="true"/>
          <p:nvPr/>
        </p:nvSpPr>
        <p:spPr>
          <a:xfrm rot="0">
            <a:off x="-88900" y="1943100"/>
            <a:ext cx="18478500" cy="1320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7400" b="false" i="false" u="none" strike="noStrike" spc="-400">
                <a:solidFill>
                  <a:srgbClr val="655340"/>
                </a:solidFill>
                <a:ea typeface="Gowun Batang Regular"/>
              </a:rPr>
              <a:t>사이를</a:t>
            </a:r>
            <a:r>
              <a:rPr lang="en-US" sz="7400" b="false" i="false" u="none" strike="noStrike" spc="-4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7400" b="false" i="false" u="none" strike="noStrike" spc="-400">
                <a:solidFill>
                  <a:srgbClr val="655340"/>
                </a:solidFill>
                <a:ea typeface="Gowun Batang Regular"/>
              </a:rPr>
              <a:t>좁히는</a:t>
            </a:r>
            <a:r>
              <a:rPr lang="en-US" sz="7400" b="false" i="false" u="none" strike="noStrike" spc="-4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7400" b="false" i="false" u="none" strike="noStrike" spc="-400">
                <a:solidFill>
                  <a:srgbClr val="655340"/>
                </a:solidFill>
                <a:ea typeface="Gowun Batang Regular"/>
              </a:rPr>
              <a:t>기술</a:t>
            </a:r>
            <a:r>
              <a:rPr lang="en-US" sz="7400" b="false" i="false" u="none" strike="noStrike" spc="-400">
                <a:solidFill>
                  <a:srgbClr val="655340"/>
                </a:solidFill>
                <a:latin typeface="Gowun Batang Regular"/>
              </a:rPr>
              <a:t>, </a:t>
            </a:r>
            <a:r>
              <a:rPr lang="ko-KR" sz="7400" b="false" i="false" u="none" strike="noStrike" spc="-400">
                <a:solidFill>
                  <a:srgbClr val="655340"/>
                </a:solidFill>
                <a:ea typeface="Gowun Batang Regular"/>
              </a:rPr>
              <a:t>마음을</a:t>
            </a:r>
            <a:r>
              <a:rPr lang="en-US" sz="7400" b="false" i="false" u="none" strike="noStrike" spc="-4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7400" b="false" i="false" u="none" strike="noStrike" spc="-400">
                <a:solidFill>
                  <a:srgbClr val="655340"/>
                </a:solidFill>
                <a:ea typeface="Gowun Batang Regular"/>
              </a:rPr>
              <a:t>잇는</a:t>
            </a:r>
            <a:r>
              <a:rPr lang="en-US" sz="7400" b="false" i="false" u="none" strike="noStrike" spc="-4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7400" b="false" i="false" u="none" strike="noStrike" spc="-400">
                <a:solidFill>
                  <a:srgbClr val="655340"/>
                </a:solidFill>
                <a:ea typeface="Gowun Batang Regular"/>
              </a:rPr>
              <a:t>인프라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-25400" y="1600200"/>
            <a:ext cx="183388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7940"/>
              </a:lnSpc>
            </a:pP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Chapter.2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인프라구조</a:t>
            </a: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및</a:t>
            </a: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사용</a:t>
            </a: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기술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438400" y="6604000"/>
            <a:ext cx="27813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사용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기술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스택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197100" y="7556500"/>
            <a:ext cx="3009900" cy="1397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6119"/>
              </a:lnSpc>
            </a:pP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FastAPI, 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SQLAlchemy (Async)</a:t>
            </a:r>
          </a:p>
          <a:p>
            <a:pPr algn="ctr" lvl="0">
              <a:lnSpc>
                <a:spcPct val="136119"/>
              </a:lnSpc>
            </a:pP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Redis (Pub/Sub), 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WebSocket</a:t>
            </a:r>
          </a:p>
          <a:p>
            <a:pPr algn="ctr" lvl="0">
              <a:lnSpc>
                <a:spcPct val="136119"/>
              </a:lnSpc>
            </a:pP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OpenAI GPT API, 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KoNLPy</a:t>
            </a:r>
          </a:p>
          <a:p>
            <a:pPr algn="ctr" lvl="0">
              <a:lnSpc>
                <a:spcPct val="136119"/>
              </a:lnSpc>
            </a:pP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Uvicorn</a:t>
            </a:r>
          </a:p>
        </p:txBody>
      </p:sp>
      <p:pic>
        <p:nvPicPr>
          <p:cNvPr name="Picture 68" id="68"/>
          <p:cNvPicPr>
            <a:picLocks noChangeAspect="true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 rot="0">
            <a:off x="5969000" y="7277100"/>
            <a:ext cx="2806700" cy="12700"/>
          </a:xfrm>
          <a:prstGeom prst="rect">
            <a:avLst/>
          </a:prstGeom>
        </p:spPr>
      </p:pic>
      <p:sp>
        <p:nvSpPr>
          <p:cNvPr name="TextBox 69" id="69"/>
          <p:cNvSpPr txBox="true"/>
          <p:nvPr/>
        </p:nvSpPr>
        <p:spPr>
          <a:xfrm rot="0">
            <a:off x="5981700" y="6426200"/>
            <a:ext cx="2781300" cy="774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실시간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통신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 </a:t>
            </a:r>
          </a:p>
          <a:p>
            <a:pPr algn="ctr" lvl="0">
              <a:lnSpc>
                <a:spcPct val="96279"/>
              </a:lnSpc>
            </a:pP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&amp;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연결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관리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803900" y="7556500"/>
            <a:ext cx="3009900" cy="1397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6119"/>
              </a:lnSpc>
            </a:pP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FastAPI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와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WebSocket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을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기반으로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사용자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간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실시간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채팅을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연결하며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ConnectionManager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가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방별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접속자를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효율적으로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관리합니다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.</a:t>
            </a:r>
          </a:p>
        </p:txBody>
      </p:sp>
      <p:pic>
        <p:nvPicPr>
          <p:cNvPr name="Picture 71" id="71"/>
          <p:cNvPicPr>
            <a:picLocks noChangeAspect="true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 rot="0">
            <a:off x="9512300" y="7277100"/>
            <a:ext cx="2806700" cy="12700"/>
          </a:xfrm>
          <a:prstGeom prst="rect">
            <a:avLst/>
          </a:prstGeom>
        </p:spPr>
      </p:pic>
      <p:sp>
        <p:nvSpPr>
          <p:cNvPr name="TextBox 72" id="72"/>
          <p:cNvSpPr txBox="true"/>
          <p:nvPr/>
        </p:nvSpPr>
        <p:spPr>
          <a:xfrm rot="0">
            <a:off x="9525000" y="6426200"/>
            <a:ext cx="2781300" cy="774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비즈니스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로직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 </a:t>
            </a:r>
          </a:p>
          <a:p>
            <a:pPr algn="ctr" lvl="0">
              <a:lnSpc>
                <a:spcPct val="96279"/>
              </a:lnSpc>
            </a:pP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&amp;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세션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컨트롤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486900" y="7556500"/>
            <a:ext cx="3009900" cy="1397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6119"/>
              </a:lnSpc>
            </a:pP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FastAPI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와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WebSocket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을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기반으로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사용자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간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실시간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채팅을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연결하며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ConnectionManager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가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방별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접속자를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효율적으로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관리합니다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.</a:t>
            </a:r>
          </a:p>
        </p:txBody>
      </p:sp>
      <p:pic>
        <p:nvPicPr>
          <p:cNvPr name="Picture 74" id="74"/>
          <p:cNvPicPr>
            <a:picLocks noChangeAspect="true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 rot="0">
            <a:off x="13055600" y="7277100"/>
            <a:ext cx="2806700" cy="127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480000">
            <a:off x="15367000" y="5702300"/>
            <a:ext cx="1371600" cy="7620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1020000">
            <a:off x="1066800" y="3505200"/>
            <a:ext cx="1866900" cy="18161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633700" y="1727200"/>
            <a:ext cx="1231900" cy="1409700"/>
          </a:xfrm>
          <a:prstGeom prst="rect">
            <a:avLst/>
          </a:prstGeom>
        </p:spPr>
      </p:pic>
      <p:sp>
        <p:nvSpPr>
          <p:cNvPr name="TextBox 78" id="78"/>
          <p:cNvSpPr txBox="true"/>
          <p:nvPr/>
        </p:nvSpPr>
        <p:spPr>
          <a:xfrm rot="0">
            <a:off x="13068300" y="6426200"/>
            <a:ext cx="2781300" cy="774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데이터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저장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 </a:t>
            </a:r>
          </a:p>
          <a:p>
            <a:pPr algn="ctr" lvl="0">
              <a:lnSpc>
                <a:spcPct val="96279"/>
              </a:lnSpc>
            </a:pP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&amp; GPT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연동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966700" y="7556500"/>
            <a:ext cx="3009900" cy="1397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6119"/>
              </a:lnSpc>
            </a:pP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SQLAlchemy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기반의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DB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에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채팅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세션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리포트를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저장하고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OpenAI GPT API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를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통해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감정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분석과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리포트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생성을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7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자동화합니다</a:t>
            </a:r>
            <a:r>
              <a:rPr lang="en-US" sz="17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.</a:t>
            </a:r>
          </a:p>
        </p:txBody>
      </p:sp>
      <p:pic>
        <p:nvPicPr>
          <p:cNvPr name="Picture 80" id="8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260600" y="3251200"/>
            <a:ext cx="31242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23900" y="647700"/>
            <a:ext cx="16840200" cy="89916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98600" y="812800"/>
            <a:ext cx="368300" cy="36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49400" y="469900"/>
            <a:ext cx="266700" cy="4064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24100" y="812800"/>
            <a:ext cx="368300" cy="368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74900" y="469900"/>
            <a:ext cx="266700" cy="4064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62300" y="812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13100" y="469900"/>
            <a:ext cx="266700" cy="4064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987800" y="812800"/>
            <a:ext cx="368300" cy="368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038600" y="469900"/>
            <a:ext cx="266700" cy="4064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13300" y="812800"/>
            <a:ext cx="368300" cy="368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64100" y="469900"/>
            <a:ext cx="266700" cy="4064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38800" y="812800"/>
            <a:ext cx="368300" cy="368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89600" y="469900"/>
            <a:ext cx="266700" cy="4064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0" y="812800"/>
            <a:ext cx="368300" cy="368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527800" y="469900"/>
            <a:ext cx="266700" cy="4064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02500" y="812800"/>
            <a:ext cx="368300" cy="368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53300" y="469900"/>
            <a:ext cx="266700" cy="4064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128000" y="812800"/>
            <a:ext cx="368300" cy="368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78800" y="469900"/>
            <a:ext cx="266700" cy="4064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953500" y="812800"/>
            <a:ext cx="368300" cy="3683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004300" y="469900"/>
            <a:ext cx="266700" cy="4064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4" id="3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91700" y="812800"/>
            <a:ext cx="368300" cy="368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42500" y="469900"/>
            <a:ext cx="266700" cy="4064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17200" y="812800"/>
            <a:ext cx="368300" cy="3683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68000" y="469900"/>
            <a:ext cx="266700" cy="406400"/>
          </a:xfrm>
          <a:prstGeom prst="rect">
            <a:avLst/>
          </a:prstGeom>
        </p:spPr>
      </p:pic>
      <p:grpSp>
        <p:nvGrpSpPr>
          <p:cNvPr name="Group 39" id="3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0" id="4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442700" y="812800"/>
            <a:ext cx="368300" cy="3683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93500" y="469900"/>
            <a:ext cx="266700" cy="406400"/>
          </a:xfrm>
          <a:prstGeom prst="rect">
            <a:avLst/>
          </a:prstGeom>
        </p:spPr>
      </p:pic>
      <p:grpSp>
        <p:nvGrpSpPr>
          <p:cNvPr name="Group 42" id="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3" id="4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268200" y="812800"/>
            <a:ext cx="368300" cy="3683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19000" y="469900"/>
            <a:ext cx="266700" cy="406400"/>
          </a:xfrm>
          <a:prstGeom prst="rect">
            <a:avLst/>
          </a:prstGeom>
        </p:spPr>
      </p:pic>
      <p:grpSp>
        <p:nvGrpSpPr>
          <p:cNvPr name="Group 45" id="4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6" id="4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06400" y="812800"/>
            <a:ext cx="368300" cy="3683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157200" y="469900"/>
            <a:ext cx="266700" cy="4064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31900" y="812800"/>
            <a:ext cx="368300" cy="3683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82700" y="469900"/>
            <a:ext cx="266700" cy="406400"/>
          </a:xfrm>
          <a:prstGeom prst="rect">
            <a:avLst/>
          </a:prstGeom>
        </p:spPr>
      </p:pic>
      <p:grpSp>
        <p:nvGrpSpPr>
          <p:cNvPr name="Group 51" id="5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2" id="5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757400" y="812800"/>
            <a:ext cx="368300" cy="3683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08200" y="469900"/>
            <a:ext cx="266700" cy="40640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582900" y="812800"/>
            <a:ext cx="368300" cy="3683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633700" y="469900"/>
            <a:ext cx="266700" cy="4064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421100" y="812800"/>
            <a:ext cx="368300" cy="3683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459200" y="469900"/>
            <a:ext cx="266700" cy="406400"/>
          </a:xfrm>
          <a:prstGeom prst="rect">
            <a:avLst/>
          </a:prstGeom>
        </p:spPr>
      </p:pic>
      <p:sp>
        <p:nvSpPr>
          <p:cNvPr name="TextBox 60" id="60"/>
          <p:cNvSpPr txBox="true"/>
          <p:nvPr/>
        </p:nvSpPr>
        <p:spPr>
          <a:xfrm rot="0">
            <a:off x="2514600" y="2794000"/>
            <a:ext cx="5156200" cy="168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“AI </a:t>
            </a: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상담의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여정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: </a:t>
            </a:r>
          </a:p>
          <a:p>
            <a:pPr algn="l" lvl="0">
              <a:lnSpc>
                <a:spcPct val="96279"/>
              </a:lnSpc>
            </a:pP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갈등에서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공감까지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”</a:t>
            </a:r>
          </a:p>
        </p:txBody>
      </p:sp>
      <p:pic>
        <p:nvPicPr>
          <p:cNvPr name="Picture 61" id="6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994400" y="5410200"/>
            <a:ext cx="1676400" cy="14224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72500" y="2209800"/>
            <a:ext cx="1651000" cy="1651000"/>
          </a:xfrm>
          <a:prstGeom prst="rect">
            <a:avLst/>
          </a:prstGeom>
        </p:spPr>
      </p:pic>
      <p:sp>
        <p:nvSpPr>
          <p:cNvPr name="TextBox 63" id="63"/>
          <p:cNvSpPr txBox="true"/>
          <p:nvPr/>
        </p:nvSpPr>
        <p:spPr>
          <a:xfrm rot="0">
            <a:off x="2705100" y="2197100"/>
            <a:ext cx="3556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7940"/>
              </a:lnSpc>
            </a:pP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Chapter.03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프로젝트</a:t>
            </a: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흐름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795000" y="2286000"/>
            <a:ext cx="52197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첫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번째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: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사용자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매칭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및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WebSocket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연결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845800" y="2857500"/>
            <a:ext cx="55753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두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사용자가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채팅방에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입장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→ WebSocket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연결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→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사용자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인증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핵심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키워드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: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사용자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인증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WebSocket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연결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ConnectionManager</a:t>
            </a:r>
          </a:p>
        </p:txBody>
      </p:sp>
      <p:pic>
        <p:nvPicPr>
          <p:cNvPr name="Picture 66" id="6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72500" y="4546600"/>
            <a:ext cx="1651000" cy="1651000"/>
          </a:xfrm>
          <a:prstGeom prst="rect">
            <a:avLst/>
          </a:prstGeom>
        </p:spPr>
      </p:pic>
      <p:sp>
        <p:nvSpPr>
          <p:cNvPr name="TextBox 67" id="67"/>
          <p:cNvSpPr txBox="true"/>
          <p:nvPr/>
        </p:nvSpPr>
        <p:spPr>
          <a:xfrm rot="0">
            <a:off x="10795000" y="4622800"/>
            <a:ext cx="52197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두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번째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: AI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중재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기반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상담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세션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진행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756900" y="5105400"/>
            <a:ext cx="56642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상황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주제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→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감정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주제로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이어지는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15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세션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기반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상담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감정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키워드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실시간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+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GPT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기반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반응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/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연장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여부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체크</a:t>
            </a:r>
          </a:p>
          <a:p>
            <a:pPr algn="l" lvl="0">
              <a:lnSpc>
                <a:spcPct val="166000"/>
              </a:lnSpc>
            </a:pP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핵심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키워드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: GPTService, 15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타이머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연장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자동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전환</a:t>
            </a:r>
          </a:p>
        </p:txBody>
      </p:sp>
      <p:pic>
        <p:nvPicPr>
          <p:cNvPr name="Picture 69" id="6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72500" y="6858000"/>
            <a:ext cx="1651000" cy="16510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 rot="0">
            <a:off x="8623300" y="4152900"/>
            <a:ext cx="7797800" cy="127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 rot="0">
            <a:off x="8623300" y="6527800"/>
            <a:ext cx="7797800" cy="127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826500" y="4800600"/>
            <a:ext cx="1168400" cy="11684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915400" y="7200900"/>
            <a:ext cx="965200" cy="9652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87500" y="6083300"/>
            <a:ext cx="3784600" cy="1244600"/>
          </a:xfrm>
          <a:prstGeom prst="rect">
            <a:avLst/>
          </a:prstGeom>
        </p:spPr>
      </p:pic>
      <p:sp>
        <p:nvSpPr>
          <p:cNvPr name="TextBox 75" id="75"/>
          <p:cNvSpPr txBox="true"/>
          <p:nvPr/>
        </p:nvSpPr>
        <p:spPr>
          <a:xfrm rot="0">
            <a:off x="10795000" y="6934200"/>
            <a:ext cx="52197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번째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: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상담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종료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및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리포트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생성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833100" y="7531100"/>
            <a:ext cx="54483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두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번째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세션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종료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전체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채팅을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기반으로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GPT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리포트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생성</a:t>
            </a:r>
          </a:p>
          <a:p>
            <a:pPr algn="l" lvl="0">
              <a:lnSpc>
                <a:spcPct val="166000"/>
              </a:lnSpc>
            </a:pP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상담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종료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메시지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전송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→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사용자에게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리포트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안내</a:t>
            </a:r>
          </a:p>
          <a:p>
            <a:pPr algn="l" lvl="0">
              <a:lnSpc>
                <a:spcPct val="166000"/>
              </a:lnSpc>
            </a:pP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핵심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키워드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: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자동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리포트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생성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GPT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요약</a:t>
            </a:r>
          </a:p>
        </p:txBody>
      </p:sp>
      <p:pic>
        <p:nvPicPr>
          <p:cNvPr name="Picture 77" id="7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984500" y="6972300"/>
            <a:ext cx="3556000" cy="20193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1080000">
            <a:off x="-279400" y="3225800"/>
            <a:ext cx="2070100" cy="21717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017000" y="2705100"/>
            <a:ext cx="7620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23900" y="647700"/>
            <a:ext cx="16840200" cy="89916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98600" y="812800"/>
            <a:ext cx="368300" cy="36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49400" y="469900"/>
            <a:ext cx="266700" cy="4064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24100" y="812800"/>
            <a:ext cx="368300" cy="368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74900" y="469900"/>
            <a:ext cx="266700" cy="4064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62300" y="812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13100" y="469900"/>
            <a:ext cx="266700" cy="4064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987800" y="812800"/>
            <a:ext cx="368300" cy="368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038600" y="469900"/>
            <a:ext cx="266700" cy="4064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13300" y="812800"/>
            <a:ext cx="368300" cy="368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64100" y="469900"/>
            <a:ext cx="266700" cy="4064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38800" y="812800"/>
            <a:ext cx="368300" cy="368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89600" y="469900"/>
            <a:ext cx="266700" cy="4064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0" y="812800"/>
            <a:ext cx="368300" cy="368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527800" y="469900"/>
            <a:ext cx="266700" cy="4064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02500" y="812800"/>
            <a:ext cx="368300" cy="368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53300" y="469900"/>
            <a:ext cx="266700" cy="4064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128000" y="812800"/>
            <a:ext cx="368300" cy="368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78800" y="469900"/>
            <a:ext cx="266700" cy="4064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953500" y="812800"/>
            <a:ext cx="368300" cy="3683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004300" y="469900"/>
            <a:ext cx="266700" cy="4064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4" id="3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91700" y="812800"/>
            <a:ext cx="368300" cy="368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42500" y="469900"/>
            <a:ext cx="266700" cy="4064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17200" y="812800"/>
            <a:ext cx="368300" cy="3683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68000" y="469900"/>
            <a:ext cx="266700" cy="406400"/>
          </a:xfrm>
          <a:prstGeom prst="rect">
            <a:avLst/>
          </a:prstGeom>
        </p:spPr>
      </p:pic>
      <p:grpSp>
        <p:nvGrpSpPr>
          <p:cNvPr name="Group 39" id="3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0" id="4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442700" y="812800"/>
            <a:ext cx="368300" cy="3683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93500" y="469900"/>
            <a:ext cx="266700" cy="406400"/>
          </a:xfrm>
          <a:prstGeom prst="rect">
            <a:avLst/>
          </a:prstGeom>
        </p:spPr>
      </p:pic>
      <p:grpSp>
        <p:nvGrpSpPr>
          <p:cNvPr name="Group 42" id="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3" id="4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268200" y="812800"/>
            <a:ext cx="368300" cy="3683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19000" y="469900"/>
            <a:ext cx="266700" cy="406400"/>
          </a:xfrm>
          <a:prstGeom prst="rect">
            <a:avLst/>
          </a:prstGeom>
        </p:spPr>
      </p:pic>
      <p:grpSp>
        <p:nvGrpSpPr>
          <p:cNvPr name="Group 45" id="4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6" id="4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06400" y="812800"/>
            <a:ext cx="368300" cy="3683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157200" y="469900"/>
            <a:ext cx="266700" cy="4064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31900" y="812800"/>
            <a:ext cx="368300" cy="3683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82700" y="469900"/>
            <a:ext cx="266700" cy="406400"/>
          </a:xfrm>
          <a:prstGeom prst="rect">
            <a:avLst/>
          </a:prstGeom>
        </p:spPr>
      </p:pic>
      <p:grpSp>
        <p:nvGrpSpPr>
          <p:cNvPr name="Group 51" id="5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2" id="5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757400" y="812800"/>
            <a:ext cx="368300" cy="3683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08200" y="469900"/>
            <a:ext cx="266700" cy="40640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582900" y="812800"/>
            <a:ext cx="368300" cy="3683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633700" y="469900"/>
            <a:ext cx="266700" cy="4064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421100" y="812800"/>
            <a:ext cx="368300" cy="3683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459200" y="469900"/>
            <a:ext cx="266700" cy="406400"/>
          </a:xfrm>
          <a:prstGeom prst="rect">
            <a:avLst/>
          </a:prstGeom>
        </p:spPr>
      </p:pic>
      <p:sp>
        <p:nvSpPr>
          <p:cNvPr name="TextBox 60" id="60"/>
          <p:cNvSpPr txBox="true"/>
          <p:nvPr/>
        </p:nvSpPr>
        <p:spPr>
          <a:xfrm rot="0">
            <a:off x="1587500" y="2717800"/>
            <a:ext cx="6997700" cy="168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각자의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손끝에서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태어난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, </a:t>
            </a:r>
          </a:p>
          <a:p>
            <a:pPr algn="l" lvl="0">
              <a:lnSpc>
                <a:spcPct val="96279"/>
              </a:lnSpc>
            </a:pP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하나의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완성된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이야기</a:t>
            </a:r>
          </a:p>
        </p:txBody>
      </p:sp>
      <p:pic>
        <p:nvPicPr>
          <p:cNvPr name="Picture 61" id="6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379700" y="1320800"/>
            <a:ext cx="1676400" cy="14224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72500" y="2209800"/>
            <a:ext cx="1651000" cy="1651000"/>
          </a:xfrm>
          <a:prstGeom prst="rect">
            <a:avLst/>
          </a:prstGeom>
        </p:spPr>
      </p:pic>
      <p:sp>
        <p:nvSpPr>
          <p:cNvPr name="TextBox 63" id="63"/>
          <p:cNvSpPr txBox="true"/>
          <p:nvPr/>
        </p:nvSpPr>
        <p:spPr>
          <a:xfrm rot="0">
            <a:off x="2705100" y="2197100"/>
            <a:ext cx="3556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7940"/>
              </a:lnSpc>
            </a:pP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Chapter.04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프로젝트</a:t>
            </a: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디테일</a:t>
            </a:r>
          </a:p>
        </p:txBody>
      </p:sp>
      <p:pic>
        <p:nvPicPr>
          <p:cNvPr name="Picture 64" id="6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72500" y="4546600"/>
            <a:ext cx="1651000" cy="16510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72500" y="6858000"/>
            <a:ext cx="1651000" cy="16510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">
            <a:off x="-279400" y="3225800"/>
            <a:ext cx="2070100" cy="2171700"/>
          </a:xfrm>
          <a:prstGeom prst="rect">
            <a:avLst/>
          </a:prstGeom>
        </p:spPr>
      </p:pic>
      <p:sp>
        <p:nvSpPr>
          <p:cNvPr name="TextBox 67" id="67"/>
          <p:cNvSpPr txBox="true"/>
          <p:nvPr/>
        </p:nvSpPr>
        <p:spPr>
          <a:xfrm rot="0">
            <a:off x="10795000" y="2286000"/>
            <a:ext cx="52197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첫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번째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: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인증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및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사용자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등록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845800" y="2933700"/>
            <a:ext cx="56261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•  JWT(Json Web Token)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를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이용한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사용자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로그인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및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인증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이메일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인증을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통해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회원가입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또는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신원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확인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절차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수행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795000" y="4622800"/>
            <a:ext cx="52197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두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번째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: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커플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매칭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기능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제공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756900" y="5334000"/>
            <a:ext cx="56642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사용자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매칭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요청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수락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상태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관리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매칭된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커플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정보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및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상태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추적</a:t>
            </a:r>
          </a:p>
        </p:txBody>
      </p:sp>
      <p:pic>
        <p:nvPicPr>
          <p:cNvPr name="Picture 71" id="71"/>
          <p:cNvPicPr>
            <a:picLocks noChangeAspect="true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0">
            <a:off x="8623300" y="4152900"/>
            <a:ext cx="7797800" cy="127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 rot="0">
            <a:off x="8623300" y="6527800"/>
            <a:ext cx="7797800" cy="127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978900" y="2705100"/>
            <a:ext cx="762000" cy="6731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915400" y="4940300"/>
            <a:ext cx="977900" cy="8636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864600" y="7124700"/>
            <a:ext cx="1079500" cy="1079500"/>
          </a:xfrm>
          <a:prstGeom prst="rect">
            <a:avLst/>
          </a:prstGeom>
        </p:spPr>
      </p:pic>
      <p:sp>
        <p:nvSpPr>
          <p:cNvPr name="TextBox 76" id="76"/>
          <p:cNvSpPr txBox="true"/>
          <p:nvPr/>
        </p:nvSpPr>
        <p:spPr>
          <a:xfrm rot="0">
            <a:off x="10795000" y="6934200"/>
            <a:ext cx="57023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번째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: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커플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서비스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지원을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위한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백엔드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API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820400" y="7670800"/>
            <a:ext cx="54483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커플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채팅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기록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저장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및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불러오기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감정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키워드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이후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Redis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발행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처리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23900" y="647700"/>
            <a:ext cx="16840200" cy="89916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98600" y="812800"/>
            <a:ext cx="368300" cy="36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49400" y="469900"/>
            <a:ext cx="266700" cy="4064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24100" y="812800"/>
            <a:ext cx="368300" cy="368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74900" y="469900"/>
            <a:ext cx="266700" cy="4064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62300" y="812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13100" y="469900"/>
            <a:ext cx="266700" cy="4064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987800" y="812800"/>
            <a:ext cx="368300" cy="368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038600" y="469900"/>
            <a:ext cx="266700" cy="4064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13300" y="812800"/>
            <a:ext cx="368300" cy="368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64100" y="469900"/>
            <a:ext cx="266700" cy="4064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38800" y="812800"/>
            <a:ext cx="368300" cy="368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89600" y="469900"/>
            <a:ext cx="266700" cy="4064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0" y="812800"/>
            <a:ext cx="368300" cy="368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527800" y="469900"/>
            <a:ext cx="266700" cy="4064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02500" y="812800"/>
            <a:ext cx="368300" cy="368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53300" y="469900"/>
            <a:ext cx="266700" cy="4064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128000" y="812800"/>
            <a:ext cx="368300" cy="368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78800" y="469900"/>
            <a:ext cx="266700" cy="4064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953500" y="812800"/>
            <a:ext cx="368300" cy="3683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004300" y="469900"/>
            <a:ext cx="266700" cy="4064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4" id="3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91700" y="812800"/>
            <a:ext cx="368300" cy="368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42500" y="469900"/>
            <a:ext cx="266700" cy="4064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17200" y="812800"/>
            <a:ext cx="368300" cy="3683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68000" y="469900"/>
            <a:ext cx="266700" cy="406400"/>
          </a:xfrm>
          <a:prstGeom prst="rect">
            <a:avLst/>
          </a:prstGeom>
        </p:spPr>
      </p:pic>
      <p:grpSp>
        <p:nvGrpSpPr>
          <p:cNvPr name="Group 39" id="3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0" id="4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442700" y="812800"/>
            <a:ext cx="368300" cy="3683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93500" y="469900"/>
            <a:ext cx="266700" cy="406400"/>
          </a:xfrm>
          <a:prstGeom prst="rect">
            <a:avLst/>
          </a:prstGeom>
        </p:spPr>
      </p:pic>
      <p:grpSp>
        <p:nvGrpSpPr>
          <p:cNvPr name="Group 42" id="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3" id="4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268200" y="812800"/>
            <a:ext cx="368300" cy="3683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19000" y="469900"/>
            <a:ext cx="266700" cy="406400"/>
          </a:xfrm>
          <a:prstGeom prst="rect">
            <a:avLst/>
          </a:prstGeom>
        </p:spPr>
      </p:pic>
      <p:grpSp>
        <p:nvGrpSpPr>
          <p:cNvPr name="Group 45" id="4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6" id="4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06400" y="812800"/>
            <a:ext cx="368300" cy="3683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157200" y="469900"/>
            <a:ext cx="266700" cy="4064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31900" y="812800"/>
            <a:ext cx="368300" cy="3683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82700" y="469900"/>
            <a:ext cx="266700" cy="406400"/>
          </a:xfrm>
          <a:prstGeom prst="rect">
            <a:avLst/>
          </a:prstGeom>
        </p:spPr>
      </p:pic>
      <p:grpSp>
        <p:nvGrpSpPr>
          <p:cNvPr name="Group 51" id="5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2" id="5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757400" y="812800"/>
            <a:ext cx="368300" cy="3683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08200" y="469900"/>
            <a:ext cx="266700" cy="40640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582900" y="812800"/>
            <a:ext cx="368300" cy="3683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633700" y="469900"/>
            <a:ext cx="266700" cy="4064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421100" y="812800"/>
            <a:ext cx="368300" cy="3683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459200" y="469900"/>
            <a:ext cx="266700" cy="4064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98800" y="965200"/>
            <a:ext cx="1676400" cy="14224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72500" y="2209800"/>
            <a:ext cx="1651000" cy="1651000"/>
          </a:xfrm>
          <a:prstGeom prst="rect">
            <a:avLst/>
          </a:prstGeom>
        </p:spPr>
      </p:pic>
      <p:sp>
        <p:nvSpPr>
          <p:cNvPr name="TextBox 62" id="62"/>
          <p:cNvSpPr txBox="true"/>
          <p:nvPr/>
        </p:nvSpPr>
        <p:spPr>
          <a:xfrm rot="0">
            <a:off x="2705100" y="2197100"/>
            <a:ext cx="3556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7940"/>
              </a:lnSpc>
            </a:pP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Chapter.04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프로젝트</a:t>
            </a: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디테일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795000" y="2171700"/>
            <a:ext cx="52197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첫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번째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: WebSocket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연결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및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사용자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인증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845800" y="2628900"/>
            <a:ext cx="55753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•FastAPI: WebSocket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라우팅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처리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및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ASGI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기반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비동기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통신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•JWT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인증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: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클라이언트의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access token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통해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사용자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검증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•   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방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별로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사용자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소켓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연결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상태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관리</a:t>
            </a:r>
          </a:p>
        </p:txBody>
      </p:sp>
      <p:pic>
        <p:nvPicPr>
          <p:cNvPr name="Picture 65" id="6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72500" y="4546600"/>
            <a:ext cx="1651000" cy="1651000"/>
          </a:xfrm>
          <a:prstGeom prst="rect">
            <a:avLst/>
          </a:prstGeom>
        </p:spPr>
      </p:pic>
      <p:sp>
        <p:nvSpPr>
          <p:cNvPr name="TextBox 66" id="66"/>
          <p:cNvSpPr txBox="true"/>
          <p:nvPr/>
        </p:nvSpPr>
        <p:spPr>
          <a:xfrm rot="0">
            <a:off x="10795000" y="4622800"/>
            <a:ext cx="54991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두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번째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: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채팅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메시지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송수신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및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브로드캐스팅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756900" y="5105400"/>
            <a:ext cx="64135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채팅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메시지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DB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저장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(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로그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기록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)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채팅방의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모든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사용자에게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실시간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메시지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전달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감정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키워드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탐지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및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사용자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알림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처리</a:t>
            </a:r>
          </a:p>
        </p:txBody>
      </p:sp>
      <p:pic>
        <p:nvPicPr>
          <p:cNvPr name="Picture 68" id="6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72500" y="6858000"/>
            <a:ext cx="1651000" cy="16510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 rot="0">
            <a:off x="8623300" y="4152900"/>
            <a:ext cx="7797800" cy="127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 rot="0">
            <a:off x="8623300" y="6527800"/>
            <a:ext cx="7797800" cy="12700"/>
          </a:xfrm>
          <a:prstGeom prst="rect">
            <a:avLst/>
          </a:prstGeom>
        </p:spPr>
      </p:pic>
      <p:sp>
        <p:nvSpPr>
          <p:cNvPr name="TextBox 71" id="71"/>
          <p:cNvSpPr txBox="true"/>
          <p:nvPr/>
        </p:nvSpPr>
        <p:spPr>
          <a:xfrm rot="0">
            <a:off x="10795000" y="6934200"/>
            <a:ext cx="52197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번째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: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세션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타이머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및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상담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흐름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제어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833100" y="7607300"/>
            <a:ext cx="76327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•  15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타이머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기반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세션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시작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/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연장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/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종료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로직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대화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종료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GPT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분석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및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리포트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생성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환경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변수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관리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(.env)</a:t>
            </a:r>
          </a:p>
        </p:txBody>
      </p:sp>
      <p:pic>
        <p:nvPicPr>
          <p:cNvPr name="Picture 73" id="7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080000">
            <a:off x="-279400" y="3225800"/>
            <a:ext cx="2070100" cy="21717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966200" y="2527300"/>
            <a:ext cx="825500" cy="10668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877300" y="4978400"/>
            <a:ext cx="1016000" cy="7366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928100" y="7200900"/>
            <a:ext cx="927100" cy="927100"/>
          </a:xfrm>
          <a:prstGeom prst="rect">
            <a:avLst/>
          </a:prstGeom>
        </p:spPr>
      </p:pic>
      <p:sp>
        <p:nvSpPr>
          <p:cNvPr name="TextBox 77" id="77"/>
          <p:cNvSpPr txBox="true"/>
          <p:nvPr/>
        </p:nvSpPr>
        <p:spPr>
          <a:xfrm rot="0">
            <a:off x="1587500" y="2717800"/>
            <a:ext cx="6997700" cy="168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각자의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손끝에서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태어난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, </a:t>
            </a:r>
          </a:p>
          <a:p>
            <a:pPr algn="l" lvl="0">
              <a:lnSpc>
                <a:spcPct val="96279"/>
              </a:lnSpc>
            </a:pP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하나의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완성된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이야기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23900" y="647700"/>
            <a:ext cx="16840200" cy="89916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98600" y="812800"/>
            <a:ext cx="368300" cy="36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49400" y="469900"/>
            <a:ext cx="266700" cy="4064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24100" y="812800"/>
            <a:ext cx="368300" cy="368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74900" y="469900"/>
            <a:ext cx="266700" cy="4064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62300" y="812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13100" y="469900"/>
            <a:ext cx="266700" cy="4064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987800" y="812800"/>
            <a:ext cx="368300" cy="368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038600" y="469900"/>
            <a:ext cx="266700" cy="4064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13300" y="812800"/>
            <a:ext cx="368300" cy="368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64100" y="469900"/>
            <a:ext cx="266700" cy="4064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38800" y="812800"/>
            <a:ext cx="368300" cy="368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89600" y="469900"/>
            <a:ext cx="266700" cy="4064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0" y="812800"/>
            <a:ext cx="368300" cy="368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527800" y="469900"/>
            <a:ext cx="266700" cy="4064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02500" y="812800"/>
            <a:ext cx="368300" cy="368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53300" y="469900"/>
            <a:ext cx="266700" cy="4064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128000" y="812800"/>
            <a:ext cx="368300" cy="368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78800" y="469900"/>
            <a:ext cx="266700" cy="4064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953500" y="812800"/>
            <a:ext cx="368300" cy="3683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004300" y="469900"/>
            <a:ext cx="266700" cy="4064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4" id="3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91700" y="812800"/>
            <a:ext cx="368300" cy="368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42500" y="469900"/>
            <a:ext cx="266700" cy="4064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17200" y="812800"/>
            <a:ext cx="368300" cy="3683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68000" y="469900"/>
            <a:ext cx="266700" cy="406400"/>
          </a:xfrm>
          <a:prstGeom prst="rect">
            <a:avLst/>
          </a:prstGeom>
        </p:spPr>
      </p:pic>
      <p:grpSp>
        <p:nvGrpSpPr>
          <p:cNvPr name="Group 39" id="3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0" id="4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442700" y="812800"/>
            <a:ext cx="368300" cy="3683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93500" y="469900"/>
            <a:ext cx="266700" cy="406400"/>
          </a:xfrm>
          <a:prstGeom prst="rect">
            <a:avLst/>
          </a:prstGeom>
        </p:spPr>
      </p:pic>
      <p:grpSp>
        <p:nvGrpSpPr>
          <p:cNvPr name="Group 42" id="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3" id="4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268200" y="812800"/>
            <a:ext cx="368300" cy="3683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19000" y="469900"/>
            <a:ext cx="266700" cy="406400"/>
          </a:xfrm>
          <a:prstGeom prst="rect">
            <a:avLst/>
          </a:prstGeom>
        </p:spPr>
      </p:pic>
      <p:grpSp>
        <p:nvGrpSpPr>
          <p:cNvPr name="Group 45" id="4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6" id="4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06400" y="812800"/>
            <a:ext cx="368300" cy="3683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157200" y="469900"/>
            <a:ext cx="266700" cy="4064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31900" y="812800"/>
            <a:ext cx="368300" cy="3683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82700" y="469900"/>
            <a:ext cx="266700" cy="406400"/>
          </a:xfrm>
          <a:prstGeom prst="rect">
            <a:avLst/>
          </a:prstGeom>
        </p:spPr>
      </p:pic>
      <p:grpSp>
        <p:nvGrpSpPr>
          <p:cNvPr name="Group 51" id="5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2" id="5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757400" y="812800"/>
            <a:ext cx="368300" cy="3683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08200" y="469900"/>
            <a:ext cx="266700" cy="40640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582900" y="812800"/>
            <a:ext cx="368300" cy="3683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633700" y="469900"/>
            <a:ext cx="266700" cy="4064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421100" y="812800"/>
            <a:ext cx="368300" cy="3683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459200" y="469900"/>
            <a:ext cx="266700" cy="4064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52700" y="1498600"/>
            <a:ext cx="1676400" cy="14224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72500" y="2209800"/>
            <a:ext cx="1651000" cy="1651000"/>
          </a:xfrm>
          <a:prstGeom prst="rect">
            <a:avLst/>
          </a:prstGeom>
        </p:spPr>
      </p:pic>
      <p:sp>
        <p:nvSpPr>
          <p:cNvPr name="TextBox 62" id="62"/>
          <p:cNvSpPr txBox="true"/>
          <p:nvPr/>
        </p:nvSpPr>
        <p:spPr>
          <a:xfrm rot="0">
            <a:off x="2705100" y="2197100"/>
            <a:ext cx="3556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7940"/>
              </a:lnSpc>
            </a:pP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Chapter.04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프로젝트</a:t>
            </a: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디테일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795000" y="2197100"/>
            <a:ext cx="52197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첫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번째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: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감정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키워드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자동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감지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845800" y="2628900"/>
            <a:ext cx="55753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메시지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수신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감정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단어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탐지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•  Redis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를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통해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브로드캐스트되어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감정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안내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메시지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전달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사용자의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감정을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실시간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파악하여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ai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상담사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역할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부여</a:t>
            </a:r>
          </a:p>
        </p:txBody>
      </p:sp>
      <p:pic>
        <p:nvPicPr>
          <p:cNvPr name="Picture 65" id="6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72500" y="4546600"/>
            <a:ext cx="1651000" cy="1651000"/>
          </a:xfrm>
          <a:prstGeom prst="rect">
            <a:avLst/>
          </a:prstGeom>
        </p:spPr>
      </p:pic>
      <p:sp>
        <p:nvSpPr>
          <p:cNvPr name="TextBox 66" id="66"/>
          <p:cNvSpPr txBox="true"/>
          <p:nvPr/>
        </p:nvSpPr>
        <p:spPr>
          <a:xfrm rot="0">
            <a:off x="10795000" y="4622800"/>
            <a:ext cx="52197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두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번째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: GPT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를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활용한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대화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분석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756900" y="5105400"/>
            <a:ext cx="62230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•.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세션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종료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전체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채팅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내용을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기반으로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GPT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에게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리포트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요청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•.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기술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: openai.ChatCompletion.create()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•.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대화의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핵심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요약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공감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지점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대화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스타일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개선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포인트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등을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AI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서술</a:t>
            </a:r>
          </a:p>
        </p:txBody>
      </p:sp>
      <p:pic>
        <p:nvPicPr>
          <p:cNvPr name="Picture 68" id="6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72500" y="7048500"/>
            <a:ext cx="1651000" cy="16510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 rot="0">
            <a:off x="8623300" y="4152900"/>
            <a:ext cx="7797800" cy="127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 rot="0">
            <a:off x="8623300" y="6527800"/>
            <a:ext cx="7797800" cy="12700"/>
          </a:xfrm>
          <a:prstGeom prst="rect">
            <a:avLst/>
          </a:prstGeom>
        </p:spPr>
      </p:pic>
      <p:sp>
        <p:nvSpPr>
          <p:cNvPr name="TextBox 71" id="71"/>
          <p:cNvSpPr txBox="true"/>
          <p:nvPr/>
        </p:nvSpPr>
        <p:spPr>
          <a:xfrm rot="0">
            <a:off x="10795000" y="6934200"/>
            <a:ext cx="52197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번째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: AI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리포트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자동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생성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및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포맷팅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833100" y="7531100"/>
            <a:ext cx="68453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•. GPT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결과를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구분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가능한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섹션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(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요약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/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문제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요인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/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공감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포인트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등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)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으로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구조화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•.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리포트는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최종적으로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채팅방에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자동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전송됨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•.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사용자에게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대화의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결산이자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피드백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역할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제공</a:t>
            </a:r>
          </a:p>
        </p:txBody>
      </p:sp>
      <p:pic>
        <p:nvPicPr>
          <p:cNvPr name="Picture 73" id="7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080000">
            <a:off x="-279400" y="3225800"/>
            <a:ext cx="2070100" cy="21717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055100" y="7531100"/>
            <a:ext cx="647700" cy="7239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915400" y="4991100"/>
            <a:ext cx="939800" cy="7366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029700" y="2679700"/>
            <a:ext cx="736600" cy="736600"/>
          </a:xfrm>
          <a:prstGeom prst="rect">
            <a:avLst/>
          </a:prstGeom>
        </p:spPr>
      </p:pic>
      <p:sp>
        <p:nvSpPr>
          <p:cNvPr name="TextBox 77" id="77"/>
          <p:cNvSpPr txBox="true"/>
          <p:nvPr/>
        </p:nvSpPr>
        <p:spPr>
          <a:xfrm rot="0">
            <a:off x="1587500" y="2717800"/>
            <a:ext cx="6997700" cy="168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각자의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손끝에서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태어난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, </a:t>
            </a:r>
          </a:p>
          <a:p>
            <a:pPr algn="l" lvl="0">
              <a:lnSpc>
                <a:spcPct val="96279"/>
              </a:lnSpc>
            </a:pP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하나의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완성된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이야기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23900" y="647700"/>
            <a:ext cx="16840200" cy="89916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98600" y="812800"/>
            <a:ext cx="368300" cy="36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49400" y="469900"/>
            <a:ext cx="266700" cy="4064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24100" y="812800"/>
            <a:ext cx="368300" cy="368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74900" y="469900"/>
            <a:ext cx="266700" cy="4064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62300" y="812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13100" y="469900"/>
            <a:ext cx="266700" cy="4064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987800" y="812800"/>
            <a:ext cx="368300" cy="368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038600" y="469900"/>
            <a:ext cx="266700" cy="4064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13300" y="812800"/>
            <a:ext cx="368300" cy="368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64100" y="469900"/>
            <a:ext cx="266700" cy="4064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38800" y="812800"/>
            <a:ext cx="368300" cy="368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89600" y="469900"/>
            <a:ext cx="266700" cy="4064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0" y="812800"/>
            <a:ext cx="368300" cy="368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527800" y="469900"/>
            <a:ext cx="266700" cy="4064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02500" y="812800"/>
            <a:ext cx="368300" cy="368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53300" y="469900"/>
            <a:ext cx="266700" cy="4064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128000" y="812800"/>
            <a:ext cx="368300" cy="368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78800" y="469900"/>
            <a:ext cx="266700" cy="4064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953500" y="812800"/>
            <a:ext cx="368300" cy="3683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004300" y="469900"/>
            <a:ext cx="266700" cy="4064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4" id="3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91700" y="812800"/>
            <a:ext cx="368300" cy="368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42500" y="469900"/>
            <a:ext cx="266700" cy="4064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17200" y="812800"/>
            <a:ext cx="368300" cy="3683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68000" y="469900"/>
            <a:ext cx="266700" cy="406400"/>
          </a:xfrm>
          <a:prstGeom prst="rect">
            <a:avLst/>
          </a:prstGeom>
        </p:spPr>
      </p:pic>
      <p:grpSp>
        <p:nvGrpSpPr>
          <p:cNvPr name="Group 39" id="3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0" id="4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442700" y="812800"/>
            <a:ext cx="368300" cy="3683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93500" y="469900"/>
            <a:ext cx="266700" cy="406400"/>
          </a:xfrm>
          <a:prstGeom prst="rect">
            <a:avLst/>
          </a:prstGeom>
        </p:spPr>
      </p:pic>
      <p:grpSp>
        <p:nvGrpSpPr>
          <p:cNvPr name="Group 42" id="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3" id="4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268200" y="812800"/>
            <a:ext cx="368300" cy="3683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19000" y="469900"/>
            <a:ext cx="266700" cy="406400"/>
          </a:xfrm>
          <a:prstGeom prst="rect">
            <a:avLst/>
          </a:prstGeom>
        </p:spPr>
      </p:pic>
      <p:grpSp>
        <p:nvGrpSpPr>
          <p:cNvPr name="Group 45" id="4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6" id="4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06400" y="812800"/>
            <a:ext cx="368300" cy="3683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157200" y="469900"/>
            <a:ext cx="266700" cy="4064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31900" y="812800"/>
            <a:ext cx="368300" cy="3683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82700" y="469900"/>
            <a:ext cx="266700" cy="406400"/>
          </a:xfrm>
          <a:prstGeom prst="rect">
            <a:avLst/>
          </a:prstGeom>
        </p:spPr>
      </p:pic>
      <p:grpSp>
        <p:nvGrpSpPr>
          <p:cNvPr name="Group 51" id="5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2" id="5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757400" y="812800"/>
            <a:ext cx="368300" cy="3683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08200" y="469900"/>
            <a:ext cx="266700" cy="40640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582900" y="812800"/>
            <a:ext cx="368300" cy="3683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633700" y="469900"/>
            <a:ext cx="266700" cy="4064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421100" y="812800"/>
            <a:ext cx="368300" cy="3683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459200" y="469900"/>
            <a:ext cx="266700" cy="4064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72500" y="2209800"/>
            <a:ext cx="1651000" cy="1651000"/>
          </a:xfrm>
          <a:prstGeom prst="rect">
            <a:avLst/>
          </a:prstGeom>
        </p:spPr>
      </p:pic>
      <p:sp>
        <p:nvSpPr>
          <p:cNvPr name="TextBox 61" id="61"/>
          <p:cNvSpPr txBox="true"/>
          <p:nvPr/>
        </p:nvSpPr>
        <p:spPr>
          <a:xfrm rot="0">
            <a:off x="2705100" y="2197100"/>
            <a:ext cx="35560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7940"/>
              </a:lnSpc>
            </a:pP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Chapter.04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프로젝트</a:t>
            </a: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디테일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795000" y="2286000"/>
            <a:ext cx="52197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첫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번째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: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채팅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로그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수집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및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GPT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호출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845800" y="2705100"/>
            <a:ext cx="56261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각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세션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종료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시점에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사용자들의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채팅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내역을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수집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해당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로그를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GPT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모델에게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전달하여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요약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분석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감정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파악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요청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사용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기술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: openai.ChatCompletion,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대화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컨텍스트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구성</a:t>
            </a:r>
          </a:p>
        </p:txBody>
      </p:sp>
      <p:pic>
        <p:nvPicPr>
          <p:cNvPr name="Picture 64" id="6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72500" y="4546600"/>
            <a:ext cx="1651000" cy="1651000"/>
          </a:xfrm>
          <a:prstGeom prst="rect">
            <a:avLst/>
          </a:prstGeom>
        </p:spPr>
      </p:pic>
      <p:sp>
        <p:nvSpPr>
          <p:cNvPr name="TextBox 65" id="65"/>
          <p:cNvSpPr txBox="true"/>
          <p:nvPr/>
        </p:nvSpPr>
        <p:spPr>
          <a:xfrm rot="0">
            <a:off x="10795000" y="4622800"/>
            <a:ext cx="61468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두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번째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: GPT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응답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파싱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및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구조화된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리포트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생성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756900" y="5105400"/>
            <a:ext cx="56642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•. GPT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응답을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항목별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(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요약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감정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문제요소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,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개선방안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등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)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파싱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사람이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읽기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좋은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형태로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정리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결과는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하나의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종합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리포트로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구성됨</a:t>
            </a:r>
          </a:p>
        </p:txBody>
      </p:sp>
      <p:pic>
        <p:nvPicPr>
          <p:cNvPr name="Picture 67" id="6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72500" y="6858000"/>
            <a:ext cx="1651000" cy="16510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0">
            <a:off x="8623300" y="4152900"/>
            <a:ext cx="7797800" cy="127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 rot="0">
            <a:off x="8623300" y="6527800"/>
            <a:ext cx="7797800" cy="12700"/>
          </a:xfrm>
          <a:prstGeom prst="rect">
            <a:avLst/>
          </a:prstGeom>
        </p:spPr>
      </p:pic>
      <p:sp>
        <p:nvSpPr>
          <p:cNvPr name="TextBox 70" id="70"/>
          <p:cNvSpPr txBox="true"/>
          <p:nvPr/>
        </p:nvSpPr>
        <p:spPr>
          <a:xfrm rot="0">
            <a:off x="10795000" y="6934200"/>
            <a:ext cx="57023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번째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: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리포트</a:t>
            </a:r>
            <a:r>
              <a:rPr lang="en-US" sz="2400" b="false" i="false" u="none" strike="noStrike" spc="-100">
                <a:solidFill>
                  <a:srgbClr val="9A8064"/>
                </a:solidFill>
                <a:latin typeface="Gowun Batang Regular"/>
              </a:rPr>
              <a:t> </a:t>
            </a:r>
            <a:r>
              <a:rPr lang="ko-KR" sz="2400" b="false" i="false" u="none" strike="noStrike" spc="-100">
                <a:solidFill>
                  <a:srgbClr val="9A8064"/>
                </a:solidFill>
                <a:ea typeface="Gowun Batang Regular"/>
              </a:rPr>
              <a:t>저장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820400" y="7645400"/>
            <a:ext cx="54483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생성된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리포트를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DB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에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저장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최종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세션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종료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데이터베이스로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리포트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자동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전송</a:t>
            </a:r>
          </a:p>
          <a:p>
            <a:pPr algn="l" lvl="0">
              <a:lnSpc>
                <a:spcPct val="166000"/>
              </a:lnSpc>
            </a:pP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 • 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상담을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마무리하는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피드백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도구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역할</a:t>
            </a:r>
            <a:r>
              <a:rPr lang="en-US" sz="1800" b="false" i="false" u="none" strike="noStrike" spc="-200">
                <a:solidFill>
                  <a:srgbClr val="655340">
                    <a:alpha val="65882"/>
                  </a:srgbClr>
                </a:solidFill>
                <a:latin typeface="Pretendard Light"/>
              </a:rPr>
              <a:t> </a:t>
            </a:r>
            <a:r>
              <a:rPr lang="ko-KR" sz="1800" b="false" i="false" u="none" strike="noStrike" spc="-200">
                <a:solidFill>
                  <a:srgbClr val="655340">
                    <a:alpha val="65882"/>
                  </a:srgbClr>
                </a:solidFill>
                <a:ea typeface="Pretendard Light"/>
              </a:rPr>
              <a:t>수행</a:t>
            </a:r>
          </a:p>
        </p:txBody>
      </p:sp>
      <p:pic>
        <p:nvPicPr>
          <p:cNvPr name="Picture 72" id="7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">
            <a:off x="-279400" y="3225800"/>
            <a:ext cx="2070100" cy="21717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544800" y="1498600"/>
            <a:ext cx="1676400" cy="14224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890000" y="2540000"/>
            <a:ext cx="990600" cy="9271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978900" y="4978400"/>
            <a:ext cx="825500" cy="8255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067800" y="7264400"/>
            <a:ext cx="685800" cy="838200"/>
          </a:xfrm>
          <a:prstGeom prst="rect">
            <a:avLst/>
          </a:prstGeom>
        </p:spPr>
      </p:pic>
      <p:sp>
        <p:nvSpPr>
          <p:cNvPr name="TextBox 77" id="77"/>
          <p:cNvSpPr txBox="true"/>
          <p:nvPr/>
        </p:nvSpPr>
        <p:spPr>
          <a:xfrm rot="0">
            <a:off x="1587500" y="2717800"/>
            <a:ext cx="6997700" cy="168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6279"/>
              </a:lnSpc>
            </a:pP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각자의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손끝에서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태어난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, </a:t>
            </a:r>
          </a:p>
          <a:p>
            <a:pPr algn="l" lvl="0">
              <a:lnSpc>
                <a:spcPct val="96279"/>
              </a:lnSpc>
            </a:pP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하나의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완성된</a:t>
            </a:r>
            <a:r>
              <a:rPr lang="en-US" sz="5200" b="false" i="false" u="none" strike="noStrike" spc="-3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5200" b="false" i="false" u="none" strike="noStrike" spc="-300">
                <a:solidFill>
                  <a:srgbClr val="655340"/>
                </a:solidFill>
                <a:ea typeface="Gowun Batang Regular"/>
              </a:rPr>
              <a:t>이야기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B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23900" y="647700"/>
            <a:ext cx="16840200" cy="89916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98600" y="812800"/>
            <a:ext cx="368300" cy="368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49400" y="469900"/>
            <a:ext cx="266700" cy="4064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324100" y="812800"/>
            <a:ext cx="368300" cy="368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374900" y="469900"/>
            <a:ext cx="266700" cy="4064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162300" y="812800"/>
            <a:ext cx="368300" cy="368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213100" y="469900"/>
            <a:ext cx="266700" cy="4064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987800" y="812800"/>
            <a:ext cx="368300" cy="368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038600" y="469900"/>
            <a:ext cx="266700" cy="4064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13300" y="812800"/>
            <a:ext cx="368300" cy="368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64100" y="469900"/>
            <a:ext cx="266700" cy="4064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38800" y="812800"/>
            <a:ext cx="368300" cy="368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89600" y="469900"/>
            <a:ext cx="266700" cy="4064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77000" y="812800"/>
            <a:ext cx="368300" cy="368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527800" y="469900"/>
            <a:ext cx="266700" cy="4064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302500" y="812800"/>
            <a:ext cx="368300" cy="368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353300" y="469900"/>
            <a:ext cx="266700" cy="406400"/>
          </a:xfrm>
          <a:prstGeom prst="rect">
            <a:avLst/>
          </a:prstGeom>
        </p:spPr>
      </p:pic>
      <p:grpSp>
        <p:nvGrpSpPr>
          <p:cNvPr name="Group 27" id="2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8" id="2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128000" y="812800"/>
            <a:ext cx="368300" cy="368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178800" y="469900"/>
            <a:ext cx="266700" cy="4064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953500" y="812800"/>
            <a:ext cx="368300" cy="3683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004300" y="469900"/>
            <a:ext cx="266700" cy="4064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4" id="3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91700" y="812800"/>
            <a:ext cx="368300" cy="368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42500" y="469900"/>
            <a:ext cx="266700" cy="4064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617200" y="812800"/>
            <a:ext cx="368300" cy="3683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668000" y="469900"/>
            <a:ext cx="266700" cy="406400"/>
          </a:xfrm>
          <a:prstGeom prst="rect">
            <a:avLst/>
          </a:prstGeom>
        </p:spPr>
      </p:pic>
      <p:grpSp>
        <p:nvGrpSpPr>
          <p:cNvPr name="Group 39" id="3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0" id="4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1442700" y="812800"/>
            <a:ext cx="368300" cy="3683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93500" y="469900"/>
            <a:ext cx="266700" cy="406400"/>
          </a:xfrm>
          <a:prstGeom prst="rect">
            <a:avLst/>
          </a:prstGeom>
        </p:spPr>
      </p:pic>
      <p:grpSp>
        <p:nvGrpSpPr>
          <p:cNvPr name="Group 42" id="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3" id="4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268200" y="812800"/>
            <a:ext cx="368300" cy="3683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19000" y="469900"/>
            <a:ext cx="266700" cy="406400"/>
          </a:xfrm>
          <a:prstGeom prst="rect">
            <a:avLst/>
          </a:prstGeom>
        </p:spPr>
      </p:pic>
      <p:grpSp>
        <p:nvGrpSpPr>
          <p:cNvPr name="Group 45" id="4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6" id="4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06400" y="812800"/>
            <a:ext cx="368300" cy="3683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157200" y="469900"/>
            <a:ext cx="266700" cy="4064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931900" y="812800"/>
            <a:ext cx="368300" cy="3683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982700" y="469900"/>
            <a:ext cx="266700" cy="406400"/>
          </a:xfrm>
          <a:prstGeom prst="rect">
            <a:avLst/>
          </a:prstGeom>
        </p:spPr>
      </p:pic>
      <p:grpSp>
        <p:nvGrpSpPr>
          <p:cNvPr name="Group 51" id="5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2" id="5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4757400" y="812800"/>
            <a:ext cx="368300" cy="3683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08200" y="469900"/>
            <a:ext cx="266700" cy="40640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582900" y="812800"/>
            <a:ext cx="368300" cy="3683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633700" y="469900"/>
            <a:ext cx="266700" cy="4064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421100" y="812800"/>
            <a:ext cx="368300" cy="3683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459200" y="469900"/>
            <a:ext cx="266700" cy="406400"/>
          </a:xfrm>
          <a:prstGeom prst="rect">
            <a:avLst/>
          </a:prstGeom>
        </p:spPr>
      </p:pic>
      <p:sp>
        <p:nvSpPr>
          <p:cNvPr name="TextBox 60" id="60"/>
          <p:cNvSpPr txBox="true"/>
          <p:nvPr/>
        </p:nvSpPr>
        <p:spPr>
          <a:xfrm rot="0">
            <a:off x="-88900" y="2438400"/>
            <a:ext cx="18453100" cy="1193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6700" b="false" i="false" u="none" strike="noStrike" spc="-400">
                <a:solidFill>
                  <a:srgbClr val="655340"/>
                </a:solidFill>
                <a:ea typeface="Gowun Batang Regular"/>
              </a:rPr>
              <a:t>서로를</a:t>
            </a:r>
            <a:r>
              <a:rPr lang="en-US" sz="6700" b="false" i="false" u="none" strike="noStrike" spc="-4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6700" b="false" i="false" u="none" strike="noStrike" spc="-400">
                <a:solidFill>
                  <a:srgbClr val="655340"/>
                </a:solidFill>
                <a:ea typeface="Gowun Batang Regular"/>
              </a:rPr>
              <a:t>향한</a:t>
            </a:r>
            <a:r>
              <a:rPr lang="en-US" sz="6700" b="false" i="false" u="none" strike="noStrike" spc="-4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6700" b="false" i="false" u="none" strike="noStrike" spc="-400">
                <a:solidFill>
                  <a:srgbClr val="655340"/>
                </a:solidFill>
                <a:ea typeface="Gowun Batang Regular"/>
              </a:rPr>
              <a:t>한</a:t>
            </a:r>
            <a:r>
              <a:rPr lang="en-US" sz="6700" b="false" i="false" u="none" strike="noStrike" spc="-4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6700" b="false" i="false" u="none" strike="noStrike" spc="-400">
                <a:solidFill>
                  <a:srgbClr val="655340"/>
                </a:solidFill>
                <a:ea typeface="Gowun Batang Regular"/>
              </a:rPr>
              <a:t>걸음</a:t>
            </a:r>
            <a:r>
              <a:rPr lang="en-US" sz="6700" b="false" i="false" u="none" strike="noStrike" spc="-400">
                <a:solidFill>
                  <a:srgbClr val="655340"/>
                </a:solidFill>
                <a:latin typeface="Gowun Batang Regular"/>
              </a:rPr>
              <a:t>, </a:t>
            </a:r>
            <a:r>
              <a:rPr lang="ko-KR" sz="6700" b="false" i="false" u="none" strike="noStrike" spc="-400">
                <a:solidFill>
                  <a:srgbClr val="655340"/>
                </a:solidFill>
                <a:ea typeface="Gowun Batang Regular"/>
              </a:rPr>
              <a:t>그</a:t>
            </a:r>
            <a:r>
              <a:rPr lang="en-US" sz="6700" b="false" i="false" u="none" strike="noStrike" spc="-4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6700" b="false" i="false" u="none" strike="noStrike" spc="-400">
                <a:solidFill>
                  <a:srgbClr val="655340"/>
                </a:solidFill>
                <a:ea typeface="Gowun Batang Regular"/>
              </a:rPr>
              <a:t>다음을</a:t>
            </a:r>
            <a:r>
              <a:rPr lang="en-US" sz="6700" b="false" i="false" u="none" strike="noStrike" spc="-4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6700" b="false" i="false" u="none" strike="noStrike" spc="-400">
                <a:solidFill>
                  <a:srgbClr val="655340"/>
                </a:solidFill>
                <a:ea typeface="Gowun Batang Regular"/>
              </a:rPr>
              <a:t>위해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-25400" y="2019300"/>
            <a:ext cx="18338800" cy="368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7940"/>
              </a:lnSpc>
            </a:pP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Chapter.05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개선</a:t>
            </a:r>
            <a:r>
              <a:rPr lang="en-US" sz="2100" b="false" i="false" u="none" strike="noStrike">
                <a:solidFill>
                  <a:srgbClr val="D08477">
                    <a:alpha val="65882"/>
                  </a:srgbClr>
                </a:solidFill>
                <a:latin typeface="Gowun Batang Regular"/>
              </a:rPr>
              <a:t> </a:t>
            </a:r>
            <a:r>
              <a:rPr lang="ko-KR" sz="2100" b="false" i="false" u="none" strike="noStrike">
                <a:solidFill>
                  <a:srgbClr val="D08477">
                    <a:alpha val="65882"/>
                  </a:srgbClr>
                </a:solidFill>
                <a:ea typeface="Gowun Batang Regular"/>
              </a:rPr>
              <a:t>방향성</a:t>
            </a:r>
          </a:p>
        </p:txBody>
      </p:sp>
      <p:pic>
        <p:nvPicPr>
          <p:cNvPr name="Picture 62" id="6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57600" y="3937000"/>
            <a:ext cx="3733800" cy="7493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922000" y="3937000"/>
            <a:ext cx="3733800" cy="7493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11300" y="4483100"/>
            <a:ext cx="15278100" cy="8636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775700" y="4483100"/>
            <a:ext cx="8013700" cy="863600"/>
          </a:xfrm>
          <a:prstGeom prst="rect">
            <a:avLst/>
          </a:prstGeom>
        </p:spPr>
      </p:pic>
      <p:sp>
        <p:nvSpPr>
          <p:cNvPr name="TextBox 66" id="66"/>
          <p:cNvSpPr txBox="true"/>
          <p:nvPr/>
        </p:nvSpPr>
        <p:spPr>
          <a:xfrm rot="0">
            <a:off x="2438400" y="4686300"/>
            <a:ext cx="58039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400" b="true" i="false" u="none" strike="noStrike" spc="-200">
                <a:solidFill>
                  <a:srgbClr val="655340"/>
                </a:solidFill>
                <a:ea typeface="Gowun Batang Bold"/>
              </a:rPr>
              <a:t>나의</a:t>
            </a:r>
            <a:r>
              <a:rPr lang="en-US" sz="2400" b="true" i="false" u="none" strike="noStrike" spc="-200">
                <a:solidFill>
                  <a:srgbClr val="655340"/>
                </a:solidFill>
                <a:latin typeface="Gowun Batang Bold"/>
              </a:rPr>
              <a:t> </a:t>
            </a:r>
            <a:r>
              <a:rPr lang="ko-KR" sz="2400" b="true" i="false" u="none" strike="noStrike" spc="-200">
                <a:solidFill>
                  <a:srgbClr val="655340"/>
                </a:solidFill>
                <a:ea typeface="Gowun Batang Bold"/>
              </a:rPr>
              <a:t>감정</a:t>
            </a:r>
            <a:r>
              <a:rPr lang="en-US" sz="2400" b="true" i="false" u="none" strike="noStrike" spc="-200">
                <a:solidFill>
                  <a:srgbClr val="655340"/>
                </a:solidFill>
                <a:latin typeface="Gowun Batang Bold"/>
              </a:rPr>
              <a:t> </a:t>
            </a:r>
            <a:r>
              <a:rPr lang="ko-KR" sz="2400" b="true" i="false" u="none" strike="noStrike" spc="-200">
                <a:solidFill>
                  <a:srgbClr val="655340"/>
                </a:solidFill>
                <a:ea typeface="Gowun Batang Bold"/>
              </a:rPr>
              <a:t>알아보기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880600" y="4686300"/>
            <a:ext cx="58039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400" b="true" i="false" u="none" strike="noStrike" spc="-200">
                <a:solidFill>
                  <a:srgbClr val="655340"/>
                </a:solidFill>
                <a:ea typeface="Gowun Batang Bold"/>
              </a:rPr>
              <a:t>감정</a:t>
            </a:r>
            <a:r>
              <a:rPr lang="en-US" sz="2400" b="true" i="false" u="none" strike="noStrike" spc="-200">
                <a:solidFill>
                  <a:srgbClr val="655340"/>
                </a:solidFill>
                <a:latin typeface="Gowun Batang Bold"/>
              </a:rPr>
              <a:t> </a:t>
            </a:r>
            <a:r>
              <a:rPr lang="ko-KR" sz="2400" b="true" i="false" u="none" strike="noStrike" spc="-200">
                <a:solidFill>
                  <a:srgbClr val="655340"/>
                </a:solidFill>
                <a:ea typeface="Gowun Batang Bold"/>
              </a:rPr>
              <a:t>카드</a:t>
            </a:r>
            <a:r>
              <a:rPr lang="en-US" sz="2400" b="true" i="false" u="none" strike="noStrike" spc="-200">
                <a:solidFill>
                  <a:srgbClr val="655340"/>
                </a:solidFill>
                <a:latin typeface="Gowun Batang Bold"/>
              </a:rPr>
              <a:t> </a:t>
            </a:r>
            <a:r>
              <a:rPr lang="ko-KR" sz="2400" b="true" i="false" u="none" strike="noStrike" spc="-200">
                <a:solidFill>
                  <a:srgbClr val="655340"/>
                </a:solidFill>
                <a:ea typeface="Gowun Batang Bold"/>
              </a:rPr>
              <a:t>기반</a:t>
            </a:r>
            <a:r>
              <a:rPr lang="en-US" sz="2400" b="true" i="false" u="none" strike="noStrike" spc="-200">
                <a:solidFill>
                  <a:srgbClr val="655340"/>
                </a:solidFill>
                <a:latin typeface="Gowun Batang Bold"/>
              </a:rPr>
              <a:t> </a:t>
            </a:r>
            <a:r>
              <a:rPr lang="ko-KR" sz="2400" b="true" i="false" u="none" strike="noStrike" spc="-200">
                <a:solidFill>
                  <a:srgbClr val="655340"/>
                </a:solidFill>
                <a:ea typeface="Gowun Batang Bold"/>
              </a:rPr>
              <a:t>자기</a:t>
            </a:r>
            <a:r>
              <a:rPr lang="en-US" sz="2400" b="true" i="false" u="none" strike="noStrike" spc="-200">
                <a:solidFill>
                  <a:srgbClr val="655340"/>
                </a:solidFill>
                <a:latin typeface="Gowun Batang Bold"/>
              </a:rPr>
              <a:t> </a:t>
            </a:r>
            <a:r>
              <a:rPr lang="ko-KR" sz="2400" b="true" i="false" u="none" strike="noStrike" spc="-200">
                <a:solidFill>
                  <a:srgbClr val="655340"/>
                </a:solidFill>
                <a:ea typeface="Gowun Batang Bold"/>
              </a:rPr>
              <a:t>이해</a:t>
            </a:r>
          </a:p>
        </p:txBody>
      </p:sp>
      <p:pic>
        <p:nvPicPr>
          <p:cNvPr name="Picture 68" id="6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11300" y="5499100"/>
            <a:ext cx="15278100" cy="8636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775700" y="5499100"/>
            <a:ext cx="8013700" cy="863600"/>
          </a:xfrm>
          <a:prstGeom prst="rect">
            <a:avLst/>
          </a:prstGeom>
        </p:spPr>
      </p:pic>
      <p:sp>
        <p:nvSpPr>
          <p:cNvPr name="TextBox 70" id="70"/>
          <p:cNvSpPr txBox="true"/>
          <p:nvPr/>
        </p:nvSpPr>
        <p:spPr>
          <a:xfrm rot="0">
            <a:off x="2438400" y="5702300"/>
            <a:ext cx="58039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사용자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개인의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감정을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탐색하는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기능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미구현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880600" y="5511800"/>
            <a:ext cx="58039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감정카드를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활용하여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사용자가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자신의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감정을</a:t>
            </a:r>
          </a:p>
          <a:p>
            <a:pPr algn="ctr" lvl="0">
              <a:lnSpc>
                <a:spcPct val="96279"/>
              </a:lnSpc>
            </a:pP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시각적으로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탐색할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수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있도록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구성</a:t>
            </a:r>
          </a:p>
        </p:txBody>
      </p:sp>
      <p:pic>
        <p:nvPicPr>
          <p:cNvPr name="Picture 72" id="7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98600" y="6781800"/>
            <a:ext cx="15278100" cy="8636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763000" y="6781800"/>
            <a:ext cx="8013700" cy="863600"/>
          </a:xfrm>
          <a:prstGeom prst="rect">
            <a:avLst/>
          </a:prstGeom>
        </p:spPr>
      </p:pic>
      <p:sp>
        <p:nvSpPr>
          <p:cNvPr name="TextBox 74" id="74"/>
          <p:cNvSpPr txBox="true"/>
          <p:nvPr/>
        </p:nvSpPr>
        <p:spPr>
          <a:xfrm rot="0">
            <a:off x="2425700" y="6985000"/>
            <a:ext cx="58039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400" b="true" i="false" u="none" strike="noStrike" spc="-200">
                <a:solidFill>
                  <a:srgbClr val="655340"/>
                </a:solidFill>
                <a:ea typeface="Gowun Batang Bold"/>
              </a:rPr>
              <a:t>커플</a:t>
            </a:r>
            <a:r>
              <a:rPr lang="en-US" sz="2400" b="true" i="false" u="none" strike="noStrike" spc="-200">
                <a:solidFill>
                  <a:srgbClr val="655340"/>
                </a:solidFill>
                <a:latin typeface="Gowun Batang Bold"/>
              </a:rPr>
              <a:t> </a:t>
            </a:r>
            <a:r>
              <a:rPr lang="ko-KR" sz="2400" b="true" i="false" u="none" strike="noStrike" spc="-200">
                <a:solidFill>
                  <a:srgbClr val="655340"/>
                </a:solidFill>
                <a:ea typeface="Gowun Batang Bold"/>
              </a:rPr>
              <a:t>문답</a:t>
            </a:r>
            <a:r>
              <a:rPr lang="en-US" sz="2400" b="true" i="false" u="none" strike="noStrike" spc="-200">
                <a:solidFill>
                  <a:srgbClr val="655340"/>
                </a:solidFill>
                <a:latin typeface="Gowun Batang Bold"/>
              </a:rPr>
              <a:t> </a:t>
            </a:r>
            <a:r>
              <a:rPr lang="ko-KR" sz="2400" b="true" i="false" u="none" strike="noStrike" spc="-200">
                <a:solidFill>
                  <a:srgbClr val="655340"/>
                </a:solidFill>
                <a:ea typeface="Gowun Batang Bold"/>
              </a:rPr>
              <a:t>기능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880600" y="6985000"/>
            <a:ext cx="58039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400" b="true" i="false" u="none" strike="noStrike" spc="-200">
                <a:solidFill>
                  <a:srgbClr val="655340"/>
                </a:solidFill>
                <a:ea typeface="Gowun Batang Bold"/>
              </a:rPr>
              <a:t>커플</a:t>
            </a:r>
            <a:r>
              <a:rPr lang="en-US" sz="2400" b="true" i="false" u="none" strike="noStrike" spc="-200">
                <a:solidFill>
                  <a:srgbClr val="655340"/>
                </a:solidFill>
                <a:latin typeface="Gowun Batang Bold"/>
              </a:rPr>
              <a:t> </a:t>
            </a:r>
            <a:r>
              <a:rPr lang="ko-KR" sz="2400" b="true" i="false" u="none" strike="noStrike" spc="-200">
                <a:solidFill>
                  <a:srgbClr val="655340"/>
                </a:solidFill>
                <a:ea typeface="Gowun Batang Bold"/>
              </a:rPr>
              <a:t>문답</a:t>
            </a:r>
            <a:r>
              <a:rPr lang="en-US" sz="2400" b="true" i="false" u="none" strike="noStrike" spc="-200">
                <a:solidFill>
                  <a:srgbClr val="655340"/>
                </a:solidFill>
                <a:latin typeface="Gowun Batang Bold"/>
              </a:rPr>
              <a:t> </a:t>
            </a:r>
            <a:r>
              <a:rPr lang="ko-KR" sz="2400" b="true" i="false" u="none" strike="noStrike" spc="-200">
                <a:solidFill>
                  <a:srgbClr val="655340"/>
                </a:solidFill>
                <a:ea typeface="Gowun Batang Bold"/>
              </a:rPr>
              <a:t>기능</a:t>
            </a:r>
            <a:r>
              <a:rPr lang="en-US" sz="2400" b="true" i="false" u="none" strike="noStrike" spc="-200">
                <a:solidFill>
                  <a:srgbClr val="655340"/>
                </a:solidFill>
                <a:latin typeface="Gowun Batang Bold"/>
              </a:rPr>
              <a:t> </a:t>
            </a:r>
            <a:r>
              <a:rPr lang="ko-KR" sz="2400" b="true" i="false" u="none" strike="noStrike" spc="-200">
                <a:solidFill>
                  <a:srgbClr val="655340"/>
                </a:solidFill>
                <a:ea typeface="Gowun Batang Bold"/>
              </a:rPr>
              <a:t>고도화</a:t>
            </a:r>
          </a:p>
        </p:txBody>
      </p:sp>
      <p:pic>
        <p:nvPicPr>
          <p:cNvPr name="Picture 76" id="7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98600" y="7785100"/>
            <a:ext cx="15278100" cy="8636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763000" y="7785100"/>
            <a:ext cx="8013700" cy="8636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-1080000">
            <a:off x="15570200" y="8623300"/>
            <a:ext cx="2070100" cy="21717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038600" y="2095500"/>
            <a:ext cx="685800" cy="9144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11">
            <a:alphaModFix amt="32000"/>
          </a:blip>
          <a:stretch>
            <a:fillRect/>
          </a:stretch>
        </p:blipFill>
        <p:spPr>
          <a:xfrm rot="-2940000">
            <a:off x="14363700" y="2095500"/>
            <a:ext cx="1219200" cy="13970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42900" y="8991600"/>
            <a:ext cx="1638300" cy="914400"/>
          </a:xfrm>
          <a:prstGeom prst="rect">
            <a:avLst/>
          </a:prstGeom>
        </p:spPr>
      </p:pic>
      <p:sp>
        <p:nvSpPr>
          <p:cNvPr name="TextBox 82" id="82"/>
          <p:cNvSpPr txBox="true"/>
          <p:nvPr/>
        </p:nvSpPr>
        <p:spPr>
          <a:xfrm rot="0">
            <a:off x="2425700" y="8001000"/>
            <a:ext cx="58039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관계를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돌아보고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미래를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그리는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문답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기능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미구현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880600" y="7810500"/>
            <a:ext cx="58039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6279"/>
              </a:lnSpc>
            </a:pP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단순한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질문이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아닌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,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서로의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가치관과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 </a:t>
            </a:r>
          </a:p>
          <a:p>
            <a:pPr algn="ctr" lvl="0">
              <a:lnSpc>
                <a:spcPct val="96279"/>
              </a:lnSpc>
            </a:pP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미래를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공유할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수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있는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미래지향적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질문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중심</a:t>
            </a:r>
            <a:r>
              <a:rPr lang="en-US" sz="2400" b="false" i="false" u="none" strike="noStrike" spc="-200">
                <a:solidFill>
                  <a:srgbClr val="655340"/>
                </a:solidFill>
                <a:latin typeface="Gowun Batang Regular"/>
              </a:rPr>
              <a:t> </a:t>
            </a:r>
            <a:r>
              <a:rPr lang="ko-KR" sz="2400" b="false" i="false" u="none" strike="noStrike" spc="-200">
                <a:solidFill>
                  <a:srgbClr val="655340"/>
                </a:solidFill>
                <a:ea typeface="Gowun Batang Regular"/>
              </a:rPr>
              <a:t>설계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4635500" y="4025900"/>
            <a:ext cx="17780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7940"/>
              </a:lnSpc>
            </a:pPr>
            <a:r>
              <a:rPr lang="en-US" sz="2200" b="false" i="false" u="none" strike="noStrike">
                <a:solidFill>
                  <a:srgbClr val="FEFCF8"/>
                </a:solidFill>
                <a:latin typeface="Gowun Batang Regular"/>
              </a:rPr>
              <a:t>Before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1899900" y="4025900"/>
            <a:ext cx="17780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7940"/>
              </a:lnSpc>
            </a:pPr>
            <a:r>
              <a:rPr lang="en-US" sz="2200" b="false" i="false" u="none" strike="noStrike">
                <a:solidFill>
                  <a:srgbClr val="FEFCF8"/>
                </a:solidFill>
                <a:latin typeface="Gowun Batang Regular"/>
              </a:rPr>
              <a:t>After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0">
            <a:off x="0" y="-12700"/>
            <a:ext cx="18288000" cy="10325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480000">
            <a:off x="2794000" y="7797800"/>
            <a:ext cx="3390900" cy="1905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 rot="-10800000">
            <a:off x="-139700" y="-114300"/>
            <a:ext cx="9956800" cy="2006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328400" y="8750300"/>
            <a:ext cx="7988300" cy="1790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 rot="0">
            <a:off x="15633700" y="5232400"/>
            <a:ext cx="1892300" cy="2159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35000"/>
          </a:blip>
          <a:stretch>
            <a:fillRect/>
          </a:stretch>
        </p:blipFill>
        <p:spPr>
          <a:xfrm rot="0">
            <a:off x="1206500" y="1244600"/>
            <a:ext cx="1955800" cy="1651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34000"/>
          </a:blip>
          <a:stretch>
            <a:fillRect/>
          </a:stretch>
        </p:blipFill>
        <p:spPr>
          <a:xfrm rot="0">
            <a:off x="12636500" y="-723900"/>
            <a:ext cx="7048500" cy="2324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 rot="0">
            <a:off x="6108700" y="5803900"/>
            <a:ext cx="60706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584700" y="1600200"/>
            <a:ext cx="9118600" cy="72644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829300" y="1739900"/>
            <a:ext cx="330200" cy="330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867400" y="1435100"/>
            <a:ext cx="241300" cy="3683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616700" y="1739900"/>
            <a:ext cx="330200" cy="330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654800" y="1435100"/>
            <a:ext cx="241300" cy="3683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404100" y="17399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442200" y="1435100"/>
            <a:ext cx="241300" cy="368300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191500" y="1739900"/>
            <a:ext cx="330200" cy="330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229600" y="1435100"/>
            <a:ext cx="241300" cy="368300"/>
          </a:xfrm>
          <a:prstGeom prst="rect">
            <a:avLst/>
          </a:prstGeom>
        </p:spPr>
      </p:pic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978900" y="1739900"/>
            <a:ext cx="330200" cy="330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017000" y="1435100"/>
            <a:ext cx="241300" cy="3683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766300" y="1739900"/>
            <a:ext cx="330200" cy="3302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804400" y="1435100"/>
            <a:ext cx="241300" cy="368300"/>
          </a:xfrm>
          <a:prstGeom prst="rect">
            <a:avLst/>
          </a:prstGeom>
        </p:spPr>
      </p:pic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553700" y="1739900"/>
            <a:ext cx="330200" cy="330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591800" y="1435100"/>
            <a:ext cx="241300" cy="3683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341100" y="1739900"/>
            <a:ext cx="330200" cy="3302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379200" y="1435100"/>
            <a:ext cx="241300" cy="368300"/>
          </a:xfrm>
          <a:prstGeom prst="rect">
            <a:avLst/>
          </a:prstGeom>
        </p:spPr>
      </p:pic>
      <p:grpSp>
        <p:nvGrpSpPr>
          <p:cNvPr name="Group 35" id="3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6" id="3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128500" y="1739900"/>
            <a:ext cx="330200" cy="3302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166600" y="1435100"/>
            <a:ext cx="241300" cy="368300"/>
          </a:xfrm>
          <a:prstGeom prst="rect">
            <a:avLst/>
          </a:prstGeom>
        </p:spPr>
      </p:pic>
      <p:grpSp>
        <p:nvGrpSpPr>
          <p:cNvPr name="Group 38" id="3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9" id="3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041900" y="1727200"/>
            <a:ext cx="330200" cy="3302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080000" y="1422400"/>
            <a:ext cx="241300" cy="368300"/>
          </a:xfrm>
          <a:prstGeom prst="rect">
            <a:avLst/>
          </a:prstGeom>
        </p:spPr>
      </p:pic>
      <p:sp>
        <p:nvSpPr>
          <p:cNvPr name="TextBox 41" id="41"/>
          <p:cNvSpPr txBox="true"/>
          <p:nvPr/>
        </p:nvSpPr>
        <p:spPr>
          <a:xfrm rot="0">
            <a:off x="6273800" y="6819900"/>
            <a:ext cx="57531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ko-KR" sz="2700" b="false" i="false" u="none" strike="noStrike" spc="-200">
                <a:solidFill>
                  <a:srgbClr val="655340"/>
                </a:solidFill>
                <a:ea typeface="Gowun Batang Regular"/>
              </a:rPr>
              <a:t>감사합니다</a:t>
            </a:r>
            <a:r>
              <a:rPr lang="en-US" sz="2700" b="false" i="false" u="none" strike="noStrike" spc="-200">
                <a:solidFill>
                  <a:srgbClr val="655340"/>
                </a:solidFill>
                <a:latin typeface="Gowun Batang Regular"/>
              </a:rPr>
              <a:t>.</a:t>
            </a:r>
          </a:p>
          <a:p>
            <a:pPr algn="ctr" lvl="0">
              <a:lnSpc>
                <a:spcPct val="124499"/>
              </a:lnSpc>
            </a:pPr>
            <a:r>
              <a:rPr lang="en-US" sz="2700" b="false" i="false" u="none" strike="noStrike" spc="-200">
                <a:solidFill>
                  <a:srgbClr val="655340"/>
                </a:solidFill>
                <a:latin typeface="Gowun Batang Regular"/>
              </a:rPr>
              <a:t>Tomato.Lab</a:t>
            </a:r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020000">
            <a:off x="6426200" y="2997200"/>
            <a:ext cx="1778000" cy="1714500"/>
          </a:xfrm>
          <a:prstGeom prst="rect">
            <a:avLst/>
          </a:prstGeom>
        </p:spPr>
      </p:pic>
      <p:grpSp>
        <p:nvGrpSpPr>
          <p:cNvPr name="Group 43" id="4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4" id="4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788900" y="1739900"/>
            <a:ext cx="330200" cy="3302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827000" y="1435100"/>
            <a:ext cx="241300" cy="3683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14">
            <a:alphaModFix amt="46000"/>
          </a:blip>
          <a:stretch>
            <a:fillRect/>
          </a:stretch>
        </p:blipFill>
        <p:spPr>
          <a:xfrm rot="0">
            <a:off x="11849100" y="4203700"/>
            <a:ext cx="939800" cy="12573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057900" y="4457700"/>
            <a:ext cx="6172200" cy="2006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